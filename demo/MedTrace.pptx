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9588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 Open with the promise: every medicine pack, verifiable in 5 seconds. • One line on who we are: four DCU students who built this weekend on Solana. • Hold up the physical box now — it comes back in the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0:10–0:35 • Lead with the WHO number: 1 in 10 in low- and middle-income countries. • Bangladesh scale: 250,000+ shops — no regulator can inspect that. • Make it visceral: antibiotics, heart, diabetes, cancer drugs made of flour and chalk. • Irish bridge: pause on the Calpol line — let the room imagine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0:35–1:00 • Concert-ticket analogy: everyone in the room has seen a screenshot ticket. • The flaw: a QR code proves the code is real, not that this pack is the only one. • One genuine code photocopied 1,000 times = 1,000 “genuine” scans. • 229+ manufacturers each with their own system — no shared memory of what's been sold. • 3Arena: the gate remembers the ticket was used. Medicine has no gate. That's what we built.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1:00–1:25 • Four steps, left to right; the one that matters is step 3 — Dispense. • Once sold, the pack is marked used — exactly like a ticket scanned at the door. • Any later scan of the same code = a copy. • Irish bridge: this isn't a wild idea — Irish pharmacists have done this since 2019. We bring it to markets without the infrastructure.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1:25–1:45 • Three guarantees, each enforced by the Solana program — not by our goodwill. • One serial = one on-chain record, so a second registration fails. • Only the current holder's signature moves the pack; dispense is permanent. • Why not a database: whoever runs it can edit it — and some counterfeiters are licensed manufacturers. • Irish bridge: here, IMVO (the Irish Medicines Verification Organisation) runs the gate. In Bangladesh, no one is trusted by all parties. • Cost: a fraction of a cent per step — details in backup A5.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1:45–2:00 • Left to right: mint_pack creates one on-chain record per serial (PDA ["pack", serial]). • transfer_custody moves one hop at a time, and only the current holder can sign it. • dispense happens once, by the pharmacy, and stamps dispensed_at. • Red paths: wrong signer, a pharmacy passing stock onward, or dispensing twice are all rejected by the program itself. No admin override exists. • Hand-off line: “Now let me show you that in the live app.”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2:00–2:30 • Switch to the live app. Narrate while clicking: register → hand off → dispense. • Scan the genuine pack: green, batch and expiry shown. • Pick up the photocopied box, scan it: red — “Already used. Copied code: sold earlier.” • Point at the Explorer link: this is a real Solana transaction, not a mock. • If Wi-Fi fails: play the recorded video, keep narrating.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2:30–2:47 • Who pays: the party that loses money to fakes — the manufacturer. • Everyone else verifies free, which drives adoption and data. • Three streams: per-pack fee, brand-protection analytics, regulator/donor programmes. • Ticketing analogy: promoter pays for the gate, not the fan. • Be upfront: pricing is an assumption we'll validate in the pilot.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2:47–2:52 • Small, winnable start: one manufacturer, one antibiotic, one district, then regulator → national → regional. • Why we win in one breath: network effect, a gate no one owns, hotspot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2:52–3:00 • “Judges: this is a real problem — 1 in 10 medicines, and patients can't tell.” • “The fix is proven — Ireland does it today — and we built the neutral gate that makes it work where no one is trusted by everyone.” • Close: “Every medicine pack, verifiable in 5 seconds. Thank you.” • Leave this slide up during Q&amp;A; jump to the appendix as questions come.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Jump here only for Q&amp;A. Map questions to slides: • “Why not a database?” → A1 • “How do you catch clones?” → A2 • “What can't it do?” → A3 • “Is this legal / crypto?” → A4 • “What does it cost?” → A5 • “Why would manufacturers pay?” → A6 • “Isn't this what Europe does?” → A8 • “How is it built? Where are the keys?” → A9</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Concede: if one trusted body existed, a database would do — that's Europe (A8). • In Bangladesh that body doesn't exist and some counterfeiters are licensed manufacturers. • The chain is the neutral referee; nobody can quietly un-dispense a pack.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Checks run top to bottom: exists → dispensed → within 10 min → which pharmacy. • The 10-minute window lets the buyer confirm their own pack; a photocopy scanned later lands on “Already used”. • “Other pharmacy” flags diverted stock (pack scanned at a shop that doesn't hold it). • A network error never shows “fake”, so we don't scare patients with false alarms.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Naming limits builds credibility — lead with “we don't test chemistry”. • Label reuse: an empty genuine box refilled with fakes still scans as “already dispensed” after first sale.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Crypto trading is restricted in Bangladesh — stress: no tokens, no payments, records only. • Bangladesh Bank has repeatedly warned against crypto trading. We touch none of that: no token, no wallet for patients. • DGDA (Directorate General of Drug Administration) is the partner in the regulator phase.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Scanning to verify is a read — free, no transaction. • Fee math: 5,000 lamports = 0.000005 SOL ≈ €0.0005 per signature at SOL ≈ €103. Priority fees add a little under congestion; still a fraction of a cent. • Per pack: 1.1 tx × €0.0005 ≈ €0.0006, plus compressed record ≈ €0.0010 → ≈ €0.0016 (≈ Tk 0.23). • Standard account rent: (128 + ~150 bytes) × 6,960 lamports ≈ 1.9 M lamports ≈ 0.0019 SOL ≈ €0.20. A deposit, not a cost, but too much capital to lock at scale, so we compress. • Records stay until expiry + grace so clones keep bouncing; then they close and the deposit comes back. • Margin: 1 − €0.0016 / €0.0069 ≈ 77%. If SOL doubles, cost ≈ €0.0032, still under half the fee.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Customer = manufacturer; users = pharmacies and patients (free); partner = DGDA (the regulator). • Unit economics: ~€0.0016 cost per pack vs €0.007 fee (see A5). • Illustrative national phase: 500 M packs × €0.007 ≈ €3.4 M/yr, plus SaaS from ~25 manufacturers × €10k ≈ €0.26 M. • Anchor the price to lost revenue: Tk 25,000 M of fakes ≈ €172 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presenting, check which article the 250,000+ shops, 229+ manufacturers and flour-and-chalk figures come from.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Own it: “We copied the logic that works in Ireland on purpose.” • Difference: Europe needed a law and a central hub; MedTrace replaces the hub with a neutral chain. • Only cite the HPRA seizure figure if asked about Ireland.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Writes: signed in Phantom and sent straight to Solana. Our server never holds a private key. • Reads: the API and the verify page share one reader (serverReader) over the RPC node; the Helius key stays server-side. • Patients need no wallet, just the phone camera and a URL. • Mock mode keeps the demo alive offline with identical rules.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812800" y="1605359"/>
            <a:ext cx="722071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5D57"/>
                </a:solidFill>
                <a:latin typeface="Plus Jakarta Sans" pitchFamily="34" charset="0"/>
                <a:ea typeface="Plus Jakarta Sans" pitchFamily="34" charset="-122"/>
                <a:cs typeface="Plus Jakarta Sans" pitchFamily="34" charset="-120"/>
              </a:rPr>
              <a:t>BUILT ON SOLANA · BUILD IRL VOL. 1 · DUBLIN, 26 SEP 2026</a:t>
            </a:r>
            <a:endParaRPr lang="en-US" sz="1200" dirty="0"/>
          </a:p>
        </p:txBody>
      </p:sp>
      <p:sp>
        <p:nvSpPr>
          <p:cNvPr id="3" name="Text 1"/>
          <p:cNvSpPr/>
          <p:nvPr/>
        </p:nvSpPr>
        <p:spPr>
          <a:xfrm>
            <a:off x="812800" y="2047280"/>
            <a:ext cx="7220712" cy="1092200"/>
          </a:xfrm>
          <a:prstGeom prst="rect">
            <a:avLst/>
          </a:prstGeom>
          <a:noFill/>
          <a:ln/>
        </p:spPr>
        <p:txBody>
          <a:bodyPr wrap="square" lIns="0" tIns="0" rIns="0" bIns="0" rtlCol="0" anchor="t">
            <a:normAutofit/>
          </a:bodyPr>
          <a:lstStyle/>
          <a:p>
            <a:pPr marL="0" indent="0" algn="l">
              <a:lnSpc>
                <a:spcPts val="8400"/>
              </a:lnSpc>
              <a:buNone/>
            </a:pPr>
            <a:r>
              <a:rPr lang="en-US" sz="8400" b="1" kern="0" spc="-250" dirty="0">
                <a:solidFill>
                  <a:srgbClr val="12201E"/>
                </a:solidFill>
                <a:latin typeface="Plus Jakarta Sans" pitchFamily="34" charset="0"/>
                <a:ea typeface="Plus Jakarta Sans" pitchFamily="34" charset="-122"/>
                <a:cs typeface="Plus Jakarta Sans" pitchFamily="34" charset="-120"/>
              </a:rPr>
              <a:t>Med</a:t>
            </a:r>
            <a:r>
              <a:rPr lang="en-US" sz="8400" b="1" kern="0" spc="-250" dirty="0">
                <a:solidFill>
                  <a:srgbClr val="157F4F"/>
                </a:solidFill>
                <a:latin typeface="Plus Jakarta Sans" pitchFamily="34" charset="0"/>
                <a:ea typeface="Plus Jakarta Sans" pitchFamily="34" charset="-122"/>
                <a:cs typeface="Plus Jakarta Sans" pitchFamily="34" charset="-120"/>
              </a:rPr>
              <a:t>Trace</a:t>
            </a:r>
            <a:endParaRPr lang="en-US" sz="8400" dirty="0"/>
          </a:p>
        </p:txBody>
      </p:sp>
      <p:sp>
        <p:nvSpPr>
          <p:cNvPr id="4" name="Text 2"/>
          <p:cNvSpPr/>
          <p:nvPr/>
        </p:nvSpPr>
        <p:spPr>
          <a:xfrm>
            <a:off x="812800" y="3342680"/>
            <a:ext cx="7220712" cy="817860"/>
          </a:xfrm>
          <a:prstGeom prst="rect">
            <a:avLst/>
          </a:prstGeom>
          <a:noFill/>
          <a:ln/>
        </p:spPr>
        <p:txBody>
          <a:bodyPr wrap="square" lIns="0" tIns="0" rIns="0" bIns="0" rtlCol="0" anchor="t">
            <a:normAutofit/>
          </a:bodyPr>
          <a:lstStyle/>
          <a:p>
            <a:pPr marL="0" indent="0" algn="l">
              <a:lnSpc>
                <a:spcPts val="3120"/>
              </a:lnSpc>
              <a:buNone/>
            </a:pPr>
            <a:r>
              <a:rPr lang="en-US" sz="2600" dirty="0">
                <a:solidFill>
                  <a:srgbClr val="2A3A37"/>
                </a:solidFill>
                <a:latin typeface="Plus Jakarta Sans" pitchFamily="34" charset="0"/>
                <a:ea typeface="Plus Jakarta Sans" pitchFamily="34" charset="-122"/>
                <a:cs typeface="Plus Jakarta Sans" pitchFamily="34" charset="-120"/>
              </a:rPr>
              <a:t>Every medicine pack,</a:t>
            </a:r>
            <a:endParaRPr lang="en-US" sz="2600" dirty="0"/>
          </a:p>
          <a:p>
            <a:pPr marL="0" indent="0" algn="l">
              <a:lnSpc>
                <a:spcPts val="3120"/>
              </a:lnSpc>
              <a:buNone/>
            </a:pPr>
            <a:r>
              <a:rPr lang="en-US" sz="2600" dirty="0">
                <a:solidFill>
                  <a:srgbClr val="2A3A37"/>
                </a:solidFill>
                <a:latin typeface="Plus Jakarta Sans" pitchFamily="34" charset="0"/>
                <a:ea typeface="Plus Jakarta Sans" pitchFamily="34" charset="-122"/>
                <a:cs typeface="Plus Jakarta Sans" pitchFamily="34" charset="-120"/>
              </a:rPr>
              <a:t>verifiable in </a:t>
            </a:r>
            <a:r>
              <a:rPr lang="en-US" sz="2600" b="1" dirty="0">
                <a:solidFill>
                  <a:srgbClr val="2A3A37"/>
                </a:solidFill>
                <a:latin typeface="Plus Jakarta Sans" pitchFamily="34" charset="0"/>
                <a:ea typeface="Plus Jakarta Sans" pitchFamily="34" charset="-122"/>
                <a:cs typeface="Plus Jakarta Sans" pitchFamily="34" charset="-120"/>
              </a:rPr>
              <a:t>5 seconds</a:t>
            </a:r>
            <a:endParaRPr lang="en-US" sz="2600" dirty="0"/>
          </a:p>
        </p:txBody>
      </p:sp>
      <p:sp>
        <p:nvSpPr>
          <p:cNvPr id="5" name="Shape 3"/>
          <p:cNvSpPr/>
          <p:nvPr/>
        </p:nvSpPr>
        <p:spPr>
          <a:xfrm>
            <a:off x="831850" y="4363740"/>
            <a:ext cx="0" cy="888901"/>
          </a:xfrm>
          <a:prstGeom prst="line">
            <a:avLst/>
          </a:prstGeom>
          <a:noFill/>
          <a:ln w="38100">
            <a:solidFill>
              <a:srgbClr val="157F4F"/>
            </a:solidFill>
            <a:prstDash val="solid"/>
          </a:ln>
        </p:spPr>
        <p:txBody>
          <a:bodyPr/>
          <a:lstStyle/>
          <a:p>
            <a:endParaRPr lang="en-US"/>
          </a:p>
        </p:txBody>
      </p:sp>
      <p:sp>
        <p:nvSpPr>
          <p:cNvPr id="6" name="Text 4"/>
          <p:cNvSpPr/>
          <p:nvPr/>
        </p:nvSpPr>
        <p:spPr>
          <a:xfrm>
            <a:off x="1028700" y="4414540"/>
            <a:ext cx="6998335"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2201E"/>
                </a:solidFill>
                <a:latin typeface="Plus Jakarta Sans" pitchFamily="34" charset="0"/>
                <a:ea typeface="Plus Jakarta Sans" pitchFamily="34" charset="-122"/>
                <a:cs typeface="Plus Jakarta Sans" pitchFamily="34" charset="-120"/>
              </a:rPr>
              <a:t>Sadman Araf · Tarannum Ahammed Noushin</a:t>
            </a:r>
            <a:endParaRPr lang="en-US" sz="1400" dirty="0"/>
          </a:p>
          <a:p>
            <a:pPr marL="0" indent="0" algn="l">
              <a:lnSpc>
                <a:spcPts val="1960"/>
              </a:lnSpc>
              <a:buNone/>
            </a:pPr>
            <a:r>
              <a:rPr lang="en-US" sz="1400" b="1" dirty="0">
                <a:solidFill>
                  <a:srgbClr val="12201E"/>
                </a:solidFill>
                <a:latin typeface="Plus Jakarta Sans" pitchFamily="34" charset="0"/>
                <a:ea typeface="Plus Jakarta Sans" pitchFamily="34" charset="-122"/>
                <a:cs typeface="Plus Jakarta Sans" pitchFamily="34" charset="-120"/>
              </a:rPr>
              <a:t>Md Asif Rahman · Mohammad Fahim Haque</a:t>
            </a:r>
            <a:endParaRPr lang="en-US" sz="1400" dirty="0"/>
          </a:p>
        </p:txBody>
      </p:sp>
      <p:sp>
        <p:nvSpPr>
          <p:cNvPr id="7" name="Text 5"/>
          <p:cNvSpPr/>
          <p:nvPr/>
        </p:nvSpPr>
        <p:spPr>
          <a:xfrm>
            <a:off x="1028700" y="4988520"/>
            <a:ext cx="699833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6645F"/>
                </a:solidFill>
                <a:latin typeface="Plus Jakarta Sans" pitchFamily="34" charset="0"/>
                <a:ea typeface="Plus Jakarta Sans" pitchFamily="34" charset="-122"/>
                <a:cs typeface="Plus Jakarta Sans" pitchFamily="34" charset="-120"/>
              </a:rPr>
              <a:t>DUBLIN CITY UNIVERSITY</a:t>
            </a:r>
            <a:endParaRPr lang="en-US" sz="1200" dirty="0"/>
          </a:p>
        </p:txBody>
      </p:sp>
      <p:sp>
        <p:nvSpPr>
          <p:cNvPr id="8" name="Shape 6"/>
          <p:cNvSpPr/>
          <p:nvPr/>
        </p:nvSpPr>
        <p:spPr>
          <a:xfrm>
            <a:off x="8585200" y="889000"/>
            <a:ext cx="2794000" cy="5080000"/>
          </a:xfrm>
          <a:prstGeom prst="roundRect">
            <a:avLst>
              <a:gd name="adj" fmla="val 16364"/>
            </a:avLst>
          </a:prstGeom>
          <a:solidFill>
            <a:srgbClr val="12201E"/>
          </a:solidFill>
          <a:ln/>
        </p:spPr>
        <p:txBody>
          <a:bodyPr/>
          <a:lstStyle/>
          <a:p>
            <a:endParaRPr lang="en-US"/>
          </a:p>
        </p:txBody>
      </p:sp>
      <p:sp>
        <p:nvSpPr>
          <p:cNvPr id="9" name="Shape 7"/>
          <p:cNvSpPr/>
          <p:nvPr/>
        </p:nvSpPr>
        <p:spPr>
          <a:xfrm>
            <a:off x="8724900" y="1028700"/>
            <a:ext cx="2514600" cy="4800600"/>
          </a:xfrm>
          <a:prstGeom prst="roundRect">
            <a:avLst>
              <a:gd name="adj" fmla="val 13131"/>
            </a:avLst>
          </a:prstGeom>
          <a:solidFill>
            <a:srgbClr val="FFFFFF"/>
          </a:solidFill>
          <a:ln/>
        </p:spPr>
        <p:txBody>
          <a:bodyPr/>
          <a:lstStyle/>
          <a:p>
            <a:endParaRPr lang="en-US"/>
          </a:p>
        </p:txBody>
      </p:sp>
      <p:sp>
        <p:nvSpPr>
          <p:cNvPr id="10" name="Text 8"/>
          <p:cNvSpPr/>
          <p:nvPr/>
        </p:nvSpPr>
        <p:spPr>
          <a:xfrm>
            <a:off x="9251752" y="1557089"/>
            <a:ext cx="151164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6645F"/>
                </a:solidFill>
                <a:latin typeface="Plus Jakarta Sans" pitchFamily="34" charset="0"/>
                <a:ea typeface="Plus Jakarta Sans" pitchFamily="34" charset="-122"/>
                <a:cs typeface="Plus Jakarta Sans" pitchFamily="34" charset="-120"/>
              </a:rPr>
              <a:t>MEDTRACE SCAN</a:t>
            </a:r>
            <a:endParaRPr lang="en-US" sz="1200" dirty="0"/>
          </a:p>
        </p:txBody>
      </p:sp>
      <p:sp>
        <p:nvSpPr>
          <p:cNvPr id="11" name="Shape 9"/>
          <p:cNvSpPr/>
          <p:nvPr/>
        </p:nvSpPr>
        <p:spPr>
          <a:xfrm>
            <a:off x="9283700" y="1948210"/>
            <a:ext cx="1397000" cy="1397000"/>
          </a:xfrm>
          <a:prstGeom prst="roundRect">
            <a:avLst>
              <a:gd name="adj" fmla="val 50000"/>
            </a:avLst>
          </a:prstGeom>
          <a:solidFill>
            <a:srgbClr val="E3F4EA"/>
          </a:solidFill>
          <a:ln/>
        </p:spPr>
        <p:txBody>
          <a:bodyPr/>
          <a:lstStyle/>
          <a:p>
            <a:endParaRPr lang="en-US"/>
          </a:p>
        </p:txBody>
      </p:sp>
      <p:sp>
        <p:nvSpPr>
          <p:cNvPr id="12" name="Text 10"/>
          <p:cNvSpPr/>
          <p:nvPr/>
        </p:nvSpPr>
        <p:spPr>
          <a:xfrm>
            <a:off x="9605963" y="2240310"/>
            <a:ext cx="803275" cy="838200"/>
          </a:xfrm>
          <a:prstGeom prst="rect">
            <a:avLst/>
          </a:prstGeom>
          <a:noFill/>
          <a:ln/>
        </p:spPr>
        <p:txBody>
          <a:bodyPr wrap="square" lIns="0" tIns="0" rIns="0" bIns="0" rtlCol="0" anchor="t">
            <a:normAutofit/>
          </a:bodyPr>
          <a:lstStyle/>
          <a:p>
            <a:pPr marL="0" indent="0" algn="l">
              <a:lnSpc>
                <a:spcPts val="6400"/>
              </a:lnSpc>
              <a:buNone/>
            </a:pPr>
            <a:r>
              <a:rPr lang="en-US" sz="6400" b="1" dirty="0">
                <a:solidFill>
                  <a:srgbClr val="157F4F"/>
                </a:solidFill>
                <a:latin typeface="Plus Jakarta Sans" pitchFamily="34" charset="0"/>
                <a:ea typeface="Plus Jakarta Sans" pitchFamily="34" charset="-122"/>
                <a:cs typeface="Plus Jakarta Sans" pitchFamily="34" charset="-120"/>
              </a:rPr>
              <a:t>✓</a:t>
            </a:r>
            <a:endParaRPr lang="en-US" sz="6400" dirty="0"/>
          </a:p>
        </p:txBody>
      </p:sp>
      <p:sp>
        <p:nvSpPr>
          <p:cNvPr id="13" name="Text 11"/>
          <p:cNvSpPr/>
          <p:nvPr/>
        </p:nvSpPr>
        <p:spPr>
          <a:xfrm>
            <a:off x="9256216" y="3523010"/>
            <a:ext cx="1502718"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57F4F"/>
                </a:solidFill>
                <a:latin typeface="Plus Jakarta Sans" pitchFamily="34" charset="0"/>
                <a:ea typeface="Plus Jakarta Sans" pitchFamily="34" charset="-122"/>
                <a:cs typeface="Plus Jakarta Sans" pitchFamily="34" charset="-120"/>
              </a:rPr>
              <a:t>Genuine</a:t>
            </a:r>
            <a:endParaRPr lang="en-US" sz="2800" dirty="0"/>
          </a:p>
        </p:txBody>
      </p:sp>
      <p:sp>
        <p:nvSpPr>
          <p:cNvPr id="14" name="Text 12"/>
          <p:cNvSpPr/>
          <p:nvPr/>
        </p:nvSpPr>
        <p:spPr>
          <a:xfrm>
            <a:off x="8948801" y="4198640"/>
            <a:ext cx="2066798" cy="52318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2201E"/>
                </a:solidFill>
                <a:latin typeface="Plus Jakarta Sans" pitchFamily="34" charset="0"/>
                <a:ea typeface="Plus Jakarta Sans" pitchFamily="34" charset="-122"/>
                <a:cs typeface="Plus Jakarta Sans" pitchFamily="34" charset="-120"/>
              </a:rPr>
              <a:t>Amoxicillin 500 mg Capsules</a:t>
            </a:r>
            <a:endParaRPr lang="en-US" sz="1400" dirty="0"/>
          </a:p>
        </p:txBody>
      </p:sp>
      <p:sp>
        <p:nvSpPr>
          <p:cNvPr id="15" name="Text 13"/>
          <p:cNvSpPr/>
          <p:nvPr/>
        </p:nvSpPr>
        <p:spPr>
          <a:xfrm>
            <a:off x="9316690" y="4874220"/>
            <a:ext cx="1330970" cy="45204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45F"/>
                </a:solidFill>
                <a:latin typeface="IBM Plex Mono" pitchFamily="34" charset="0"/>
                <a:ea typeface="IBM Plex Mono" pitchFamily="34" charset="-122"/>
                <a:cs typeface="IBM Plex Mono" pitchFamily="34" charset="-120"/>
              </a:rPr>
              <a:t>Batch AMX2609A</a:t>
            </a:r>
            <a:endParaRPr lang="en-US" sz="1200" dirty="0"/>
          </a:p>
          <a:p>
            <a:pPr marL="0" indent="0" algn="ctr">
              <a:lnSpc>
                <a:spcPts val="1680"/>
              </a:lnSpc>
              <a:buNone/>
            </a:pPr>
            <a:r>
              <a:rPr lang="en-US" sz="1200" dirty="0">
                <a:solidFill>
                  <a:srgbClr val="56645F"/>
                </a:solidFill>
                <a:latin typeface="IBM Plex Mono" pitchFamily="34" charset="0"/>
                <a:ea typeface="IBM Plex Mono" pitchFamily="34" charset="-122"/>
                <a:cs typeface="IBM Plex Mono" pitchFamily="34" charset="-120"/>
              </a:rPr>
              <a:t>Exp 08/2028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5D57"/>
                </a:solidFill>
                <a:latin typeface="Plus Jakarta Sans" pitchFamily="34" charset="0"/>
                <a:ea typeface="Plus Jakarta Sans" pitchFamily="34" charset="-122"/>
                <a:cs typeface="Plus Jakarta Sans" pitchFamily="34" charset="-120"/>
              </a:rPr>
              <a:t>PROBLEM</a:t>
            </a:r>
            <a:endParaRPr lang="en-US" sz="1200" dirty="0"/>
          </a:p>
        </p:txBody>
      </p:sp>
      <p:sp>
        <p:nvSpPr>
          <p:cNvPr id="3" name="Text 1"/>
          <p:cNvSpPr/>
          <p:nvPr/>
        </p:nvSpPr>
        <p:spPr>
          <a:xfrm>
            <a:off x="812800" y="1026120"/>
            <a:ext cx="10883392" cy="878780"/>
          </a:xfrm>
          <a:prstGeom prst="rect">
            <a:avLst/>
          </a:prstGeom>
          <a:noFill/>
          <a:ln/>
        </p:spPr>
        <p:txBody>
          <a:bodyPr wrap="square" lIns="0" tIns="0" rIns="0" bIns="0" rtlCol="0" anchor="t">
            <a:normAutofit/>
          </a:bodyPr>
          <a:lstStyle/>
          <a:p>
            <a:pPr marL="0" indent="0" algn="l">
              <a:lnSpc>
                <a:spcPts val="3360"/>
              </a:lnSpc>
              <a:buNone/>
            </a:pPr>
            <a:r>
              <a:rPr lang="en-US" sz="3000" b="1" kern="0" spc="-50" dirty="0">
                <a:solidFill>
                  <a:srgbClr val="12201E"/>
                </a:solidFill>
                <a:latin typeface="Plus Jakarta Sans" pitchFamily="34" charset="0"/>
                <a:ea typeface="Plus Jakarta Sans" pitchFamily="34" charset="-122"/>
                <a:cs typeface="Plus Jakarta Sans" pitchFamily="34" charset="-120"/>
              </a:rPr>
              <a:t>In emerging markets, 1 in 10 medicines is fake or substandard, and patients can't tell</a:t>
            </a:r>
            <a:endParaRPr lang="en-US" sz="3000" dirty="0"/>
          </a:p>
        </p:txBody>
      </p:sp>
      <p:sp>
        <p:nvSpPr>
          <p:cNvPr id="4" name="Shape 2"/>
          <p:cNvSpPr/>
          <p:nvPr/>
        </p:nvSpPr>
        <p:spPr>
          <a:xfrm>
            <a:off x="815975" y="2187476"/>
            <a:ext cx="3380284" cy="2365970"/>
          </a:xfrm>
          <a:prstGeom prst="roundRect">
            <a:avLst>
              <a:gd name="adj" fmla="val 6307"/>
            </a:avLst>
          </a:prstGeom>
          <a:solidFill>
            <a:srgbClr val="FFFFFF"/>
          </a:solidFill>
          <a:ln w="6350">
            <a:solidFill>
              <a:srgbClr val="D7E2DF"/>
            </a:solidFill>
            <a:prstDash val="solid"/>
          </a:ln>
        </p:spPr>
        <p:txBody>
          <a:bodyPr/>
          <a:lstStyle/>
          <a:p>
            <a:endParaRPr lang="en-US"/>
          </a:p>
        </p:txBody>
      </p:sp>
      <p:sp>
        <p:nvSpPr>
          <p:cNvPr id="5" name="Text 3"/>
          <p:cNvSpPr/>
          <p:nvPr/>
        </p:nvSpPr>
        <p:spPr>
          <a:xfrm>
            <a:off x="1098550" y="2470051"/>
            <a:ext cx="2899588"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B93E0A"/>
                </a:solidFill>
                <a:latin typeface="Plus Jakarta Sans" pitchFamily="34" charset="0"/>
                <a:ea typeface="Plus Jakarta Sans" pitchFamily="34" charset="-122"/>
                <a:cs typeface="Plus Jakarta Sans" pitchFamily="34" charset="-120"/>
              </a:rPr>
              <a:t>1 in 10</a:t>
            </a:r>
            <a:endParaRPr lang="en-US" sz="4800" dirty="0"/>
          </a:p>
        </p:txBody>
      </p:sp>
      <p:sp>
        <p:nvSpPr>
          <p:cNvPr id="6" name="Text 4"/>
          <p:cNvSpPr/>
          <p:nvPr/>
        </p:nvSpPr>
        <p:spPr>
          <a:xfrm>
            <a:off x="1098550" y="3181251"/>
            <a:ext cx="2899588"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2201E"/>
                </a:solidFill>
                <a:latin typeface="Plus Jakarta Sans" pitchFamily="34" charset="0"/>
                <a:ea typeface="Plus Jakarta Sans" pitchFamily="34" charset="-122"/>
                <a:cs typeface="Plus Jakarta Sans" pitchFamily="34" charset="-120"/>
              </a:rPr>
              <a:t>medicines in low- and middle-income countries are substandard or falsified </a:t>
            </a:r>
            <a:r>
              <a:rPr lang="en-US" sz="1400" dirty="0">
                <a:solidFill>
                  <a:srgbClr val="56645F"/>
                </a:solidFill>
                <a:latin typeface="Plus Jakarta Sans" pitchFamily="34" charset="0"/>
                <a:ea typeface="Plus Jakarta Sans" pitchFamily="34" charset="-122"/>
                <a:cs typeface="Plus Jakarta Sans" pitchFamily="34" charset="-120"/>
              </a:rPr>
              <a:t>(WHO)</a:t>
            </a:r>
            <a:endParaRPr lang="en-US" sz="1400" dirty="0"/>
          </a:p>
        </p:txBody>
      </p:sp>
      <p:sp>
        <p:nvSpPr>
          <p:cNvPr id="7" name="Shape 5"/>
          <p:cNvSpPr/>
          <p:nvPr/>
        </p:nvSpPr>
        <p:spPr>
          <a:xfrm>
            <a:off x="4405809" y="2197524"/>
            <a:ext cx="3380333" cy="2365970"/>
          </a:xfrm>
          <a:prstGeom prst="roundRect">
            <a:avLst>
              <a:gd name="adj" fmla="val 6307"/>
            </a:avLst>
          </a:prstGeom>
          <a:solidFill>
            <a:srgbClr val="FFFFFF"/>
          </a:solidFill>
          <a:ln w="6350">
            <a:solidFill>
              <a:srgbClr val="D7E2DF"/>
            </a:solidFill>
            <a:prstDash val="solid"/>
          </a:ln>
        </p:spPr>
        <p:txBody>
          <a:bodyPr/>
          <a:lstStyle/>
          <a:p>
            <a:endParaRPr lang="en-US"/>
          </a:p>
        </p:txBody>
      </p:sp>
      <p:sp>
        <p:nvSpPr>
          <p:cNvPr id="8" name="Text 6"/>
          <p:cNvSpPr/>
          <p:nvPr/>
        </p:nvSpPr>
        <p:spPr>
          <a:xfrm>
            <a:off x="4688384" y="2470051"/>
            <a:ext cx="2899639" cy="12446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0B5D57"/>
                </a:solidFill>
                <a:latin typeface="Plus Jakarta Sans" pitchFamily="34" charset="0"/>
                <a:ea typeface="Plus Jakarta Sans" pitchFamily="34" charset="-122"/>
                <a:cs typeface="Plus Jakarta Sans" pitchFamily="34" charset="-120"/>
              </a:rPr>
              <a:t>250,000+</a:t>
            </a:r>
            <a:endParaRPr lang="en-US" sz="4800" dirty="0"/>
          </a:p>
        </p:txBody>
      </p:sp>
      <p:sp>
        <p:nvSpPr>
          <p:cNvPr id="9" name="Text 7"/>
          <p:cNvSpPr/>
          <p:nvPr/>
        </p:nvSpPr>
        <p:spPr>
          <a:xfrm>
            <a:off x="4688384" y="3790851"/>
            <a:ext cx="2899639"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2201E"/>
                </a:solidFill>
                <a:latin typeface="Plus Jakarta Sans" pitchFamily="34" charset="0"/>
                <a:ea typeface="Plus Jakarta Sans" pitchFamily="34" charset="-122"/>
                <a:cs typeface="Plus Jakarta Sans" pitchFamily="34" charset="-120"/>
              </a:rPr>
              <a:t>medicine shops in Bangladesh — far too many to inspect</a:t>
            </a:r>
            <a:endParaRPr lang="en-US" sz="1400" dirty="0"/>
          </a:p>
        </p:txBody>
      </p:sp>
      <p:sp>
        <p:nvSpPr>
          <p:cNvPr id="10" name="Shape 8"/>
          <p:cNvSpPr/>
          <p:nvPr/>
        </p:nvSpPr>
        <p:spPr>
          <a:xfrm>
            <a:off x="7995692" y="2187476"/>
            <a:ext cx="3380333" cy="2365970"/>
          </a:xfrm>
          <a:prstGeom prst="roundRect">
            <a:avLst>
              <a:gd name="adj" fmla="val 6307"/>
            </a:avLst>
          </a:prstGeom>
          <a:solidFill>
            <a:srgbClr val="FFFFFF"/>
          </a:solidFill>
          <a:ln w="6350">
            <a:solidFill>
              <a:srgbClr val="D7E2DF"/>
            </a:solidFill>
            <a:prstDash val="solid"/>
          </a:ln>
        </p:spPr>
        <p:txBody>
          <a:bodyPr/>
          <a:lstStyle/>
          <a:p>
            <a:endParaRPr lang="en-US"/>
          </a:p>
        </p:txBody>
      </p:sp>
      <p:sp>
        <p:nvSpPr>
          <p:cNvPr id="11" name="Text 9"/>
          <p:cNvSpPr/>
          <p:nvPr/>
        </p:nvSpPr>
        <p:spPr>
          <a:xfrm>
            <a:off x="8278267" y="2470051"/>
            <a:ext cx="2899639"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B93E0A"/>
                </a:solidFill>
                <a:latin typeface="Plus Jakarta Sans" pitchFamily="34" charset="0"/>
                <a:ea typeface="Plus Jakarta Sans" pitchFamily="34" charset="-122"/>
                <a:cs typeface="Plus Jakarta Sans" pitchFamily="34" charset="-120"/>
              </a:rPr>
              <a:t>Chalk</a:t>
            </a:r>
            <a:endParaRPr lang="en-US" sz="4800" dirty="0"/>
          </a:p>
        </p:txBody>
      </p:sp>
      <p:sp>
        <p:nvSpPr>
          <p:cNvPr id="12" name="Text 10"/>
          <p:cNvSpPr/>
          <p:nvPr/>
        </p:nvSpPr>
        <p:spPr>
          <a:xfrm>
            <a:off x="8278267" y="3181251"/>
            <a:ext cx="2899639"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2201E"/>
                </a:solidFill>
                <a:latin typeface="Plus Jakarta Sans" pitchFamily="34" charset="0"/>
                <a:ea typeface="Plus Jakarta Sans" pitchFamily="34" charset="-122"/>
                <a:cs typeface="Plus Jakarta Sans" pitchFamily="34" charset="-120"/>
              </a:rPr>
              <a:t>Fake antibiotics and heart, diabetes &amp; cancer drugs made from flour and chalk</a:t>
            </a:r>
            <a:endParaRPr lang="en-US" sz="1400" dirty="0"/>
          </a:p>
        </p:txBody>
      </p:sp>
      <p:sp>
        <p:nvSpPr>
          <p:cNvPr id="13" name="Shape 11"/>
          <p:cNvSpPr/>
          <p:nvPr/>
        </p:nvSpPr>
        <p:spPr>
          <a:xfrm>
            <a:off x="812800" y="4861421"/>
            <a:ext cx="10566400" cy="708620"/>
          </a:xfrm>
          <a:prstGeom prst="roundRect">
            <a:avLst>
              <a:gd name="adj" fmla="val 21507"/>
            </a:avLst>
          </a:prstGeom>
          <a:solidFill>
            <a:srgbClr val="E3EFEC"/>
          </a:solidFill>
          <a:ln/>
        </p:spPr>
        <p:txBody>
          <a:bodyPr/>
          <a:lstStyle/>
          <a:p>
            <a:endParaRPr lang="en-US"/>
          </a:p>
        </p:txBody>
      </p:sp>
      <p:sp>
        <p:nvSpPr>
          <p:cNvPr id="14" name="Text 12"/>
          <p:cNvSpPr/>
          <p:nvPr/>
        </p:nvSpPr>
        <p:spPr>
          <a:xfrm>
            <a:off x="1117600" y="5109071"/>
            <a:ext cx="101098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5D57"/>
                </a:solidFill>
                <a:latin typeface="Plus Jakarta Sans" pitchFamily="34" charset="0"/>
                <a:ea typeface="Plus Jakarta Sans" pitchFamily="34" charset="-122"/>
                <a:cs typeface="Plus Jakarta Sans" pitchFamily="34" charset="-120"/>
              </a:rPr>
              <a:t>IN IRELAND</a:t>
            </a:r>
            <a:endParaRPr lang="en-US" sz="1200" dirty="0"/>
          </a:p>
        </p:txBody>
      </p:sp>
      <p:sp>
        <p:nvSpPr>
          <p:cNvPr id="15" name="Text 13"/>
          <p:cNvSpPr/>
          <p:nvPr/>
        </p:nvSpPr>
        <p:spPr>
          <a:xfrm>
            <a:off x="2255589" y="5064621"/>
            <a:ext cx="7095114" cy="327620"/>
          </a:xfrm>
          <a:prstGeom prst="rect">
            <a:avLst/>
          </a:prstGeom>
          <a:noFill/>
          <a:ln/>
        </p:spPr>
        <p:txBody>
          <a:bodyPr wrap="square" lIns="0" tIns="0" rIns="0" bIns="0" rtlCol="0" anchor="t">
            <a:normAutofit/>
          </a:bodyPr>
          <a:lstStyle/>
          <a:p>
            <a:pPr marL="0" indent="0" algn="l">
              <a:lnSpc>
                <a:spcPts val="2380"/>
              </a:lnSpc>
              <a:buNone/>
            </a:pPr>
            <a:r>
              <a:rPr lang="en-US" sz="1700" i="1" dirty="0">
                <a:solidFill>
                  <a:srgbClr val="12201E"/>
                </a:solidFill>
                <a:latin typeface="Plus Jakarta Sans" pitchFamily="34" charset="0"/>
                <a:ea typeface="Plus Jakarta Sans" pitchFamily="34" charset="-122"/>
                <a:cs typeface="Plus Jakarta Sans" pitchFamily="34" charset="-120"/>
              </a:rPr>
              <a:t>“Imagine 1 in 10 bottles of Calpol at your local pharmacy were fake.”</a:t>
            </a:r>
            <a:endParaRPr lang="en-US" sz="1700" dirty="0"/>
          </a:p>
        </p:txBody>
      </p:sp>
      <p:sp>
        <p:nvSpPr>
          <p:cNvPr id="16" name="Text 14"/>
          <p:cNvSpPr/>
          <p:nvPr/>
        </p:nvSpPr>
        <p:spPr>
          <a:xfrm>
            <a:off x="812800" y="6238280"/>
            <a:ext cx="381914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Sources: WHO · Bangladesh Pratidin · Dhaka Tribune</a:t>
            </a:r>
            <a:endParaRPr lang="en-US" sz="1200" dirty="0"/>
          </a:p>
        </p:txBody>
      </p:sp>
      <p:sp>
        <p:nvSpPr>
          <p:cNvPr id="17" name="Text 15"/>
          <p:cNvSpPr/>
          <p:nvPr/>
        </p:nvSpPr>
        <p:spPr>
          <a:xfrm>
            <a:off x="11176198" y="6238280"/>
            <a:ext cx="25380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3D3A"/>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FD3B4"/>
                </a:solidFill>
                <a:latin typeface="Plus Jakarta Sans" pitchFamily="34" charset="0"/>
                <a:ea typeface="Plus Jakarta Sans" pitchFamily="34" charset="-122"/>
                <a:cs typeface="Plus Jakarta Sans" pitchFamily="34" charset="-120"/>
              </a:rPr>
              <a:t>WHY CURRENT FIXES FAIL</a:t>
            </a:r>
            <a:endParaRPr lang="en-US" sz="1200" dirty="0"/>
          </a:p>
        </p:txBody>
      </p:sp>
      <p:sp>
        <p:nvSpPr>
          <p:cNvPr id="3" name="Text 1"/>
          <p:cNvSpPr/>
          <p:nvPr/>
        </p:nvSpPr>
        <p:spPr>
          <a:xfrm>
            <a:off x="812800" y="1026120"/>
            <a:ext cx="10883392" cy="836116"/>
          </a:xfrm>
          <a:prstGeom prst="rect">
            <a:avLst/>
          </a:prstGeom>
          <a:noFill/>
          <a:ln/>
        </p:spPr>
        <p:txBody>
          <a:bodyPr wrap="square" lIns="0" tIns="0" rIns="0" bIns="0" rtlCol="0" anchor="t">
            <a:normAutofit/>
          </a:bodyPr>
          <a:lstStyle/>
          <a:p>
            <a:pPr marL="0" indent="0" algn="l">
              <a:lnSpc>
                <a:spcPts val="3192"/>
              </a:lnSpc>
              <a:buNone/>
            </a:pPr>
            <a:r>
              <a:rPr lang="en-US" sz="2800" b="1" kern="0" spc="-50" dirty="0">
                <a:solidFill>
                  <a:srgbClr val="F1F6F4"/>
                </a:solidFill>
                <a:latin typeface="Plus Jakarta Sans" pitchFamily="34" charset="0"/>
                <a:ea typeface="Plus Jakarta Sans" pitchFamily="34" charset="-122"/>
                <a:cs typeface="Plus Jakarta Sans" pitchFamily="34" charset="-120"/>
              </a:rPr>
              <a:t>Today's QR codes are like a screenshot of a concert ticket: easy to copy, nothing stops the copies</a:t>
            </a:r>
            <a:endParaRPr lang="en-US" sz="2800" dirty="0"/>
          </a:p>
        </p:txBody>
      </p:sp>
      <p:pic>
        <p:nvPicPr>
          <p:cNvPr id="4" name="Image 0" descr="One genuine medicine box copied onto nine fake boxes, every copy showing a green verified tick"/>
          <p:cNvPicPr>
            <a:picLocks noChangeAspect="1"/>
          </p:cNvPicPr>
          <p:nvPr/>
        </p:nvPicPr>
        <p:blipFill>
          <a:blip r:embed="rId3"/>
          <a:srcRect/>
          <a:stretch/>
        </p:blipFill>
        <p:spPr>
          <a:xfrm>
            <a:off x="812800" y="2141637"/>
            <a:ext cx="5461000" cy="2794000"/>
          </a:xfrm>
          <a:prstGeom prst="rect">
            <a:avLst/>
          </a:prstGeom>
        </p:spPr>
      </p:pic>
      <p:sp>
        <p:nvSpPr>
          <p:cNvPr id="5" name="Text 2"/>
          <p:cNvSpPr/>
          <p:nvPr/>
        </p:nvSpPr>
        <p:spPr>
          <a:xfrm>
            <a:off x="812800" y="5062637"/>
            <a:ext cx="5624830" cy="416520"/>
          </a:xfrm>
          <a:prstGeom prst="rect">
            <a:avLst/>
          </a:prstGeom>
          <a:noFill/>
          <a:ln/>
        </p:spPr>
        <p:txBody>
          <a:bodyPr wrap="square" lIns="0" tIns="0" rIns="0" bIns="0" rtlCol="0" anchor="t">
            <a:normAutofit/>
          </a:bodyPr>
          <a:lstStyle/>
          <a:p>
            <a:pPr marL="0" indent="0" algn="l">
              <a:lnSpc>
                <a:spcPts val="3080"/>
              </a:lnSpc>
              <a:buNone/>
            </a:pPr>
            <a:r>
              <a:rPr lang="en-US" sz="2200" b="1" i="1" dirty="0">
                <a:solidFill>
                  <a:srgbClr val="F3A56B"/>
                </a:solidFill>
                <a:latin typeface="Plus Jakarta Sans" pitchFamily="34" charset="0"/>
                <a:ea typeface="Plus Jakarta Sans" pitchFamily="34" charset="-122"/>
                <a:cs typeface="Plus Jakarta Sans" pitchFamily="34" charset="-120"/>
              </a:rPr>
              <a:t>All verified. All fake.</a:t>
            </a:r>
            <a:endParaRPr lang="en-US" sz="2200" dirty="0"/>
          </a:p>
        </p:txBody>
      </p:sp>
      <p:sp>
        <p:nvSpPr>
          <p:cNvPr id="6" name="Text 3"/>
          <p:cNvSpPr/>
          <p:nvPr/>
        </p:nvSpPr>
        <p:spPr>
          <a:xfrm>
            <a:off x="6731000" y="2732187"/>
            <a:ext cx="478764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1F6F4"/>
                </a:solidFill>
                <a:latin typeface="Plus Jakarta Sans" pitchFamily="34" charset="0"/>
                <a:ea typeface="Plus Jakarta Sans" pitchFamily="34" charset="-122"/>
                <a:cs typeface="Plus Jakarta Sans" pitchFamily="34" charset="-120"/>
              </a:rPr>
              <a:t>1 genuine QR → 1,000 fake boxes</a:t>
            </a:r>
            <a:endParaRPr lang="en-US" sz="1700" dirty="0"/>
          </a:p>
        </p:txBody>
      </p:sp>
      <p:sp>
        <p:nvSpPr>
          <p:cNvPr id="7" name="Text 4"/>
          <p:cNvSpPr/>
          <p:nvPr/>
        </p:nvSpPr>
        <p:spPr>
          <a:xfrm>
            <a:off x="6731000" y="3042047"/>
            <a:ext cx="4787646"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FCA"/>
                </a:solidFill>
                <a:latin typeface="Plus Jakarta Sans" pitchFamily="34" charset="0"/>
                <a:ea typeface="Plus Jakarta Sans" pitchFamily="34" charset="-122"/>
                <a:cs typeface="Plus Jakarta Sans" pitchFamily="34" charset="-120"/>
              </a:rPr>
              <a:t>Photocopied onto every box, each one scans “genuine”.</a:t>
            </a:r>
            <a:endParaRPr lang="en-US" sz="1300" dirty="0"/>
          </a:p>
        </p:txBody>
      </p:sp>
      <p:sp>
        <p:nvSpPr>
          <p:cNvPr id="8" name="Text 5"/>
          <p:cNvSpPr/>
          <p:nvPr/>
        </p:nvSpPr>
        <p:spPr>
          <a:xfrm>
            <a:off x="6731000" y="3527177"/>
            <a:ext cx="478764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1F6F4"/>
                </a:solidFill>
                <a:latin typeface="Plus Jakarta Sans" pitchFamily="34" charset="0"/>
                <a:ea typeface="Plus Jakarta Sans" pitchFamily="34" charset="-122"/>
                <a:cs typeface="Plus Jakarta Sans" pitchFamily="34" charset="-120"/>
              </a:rPr>
              <a:t>229+ manufacturers, 229+ silos</a:t>
            </a:r>
            <a:endParaRPr lang="en-US" sz="1700" dirty="0"/>
          </a:p>
        </p:txBody>
      </p:sp>
      <p:sp>
        <p:nvSpPr>
          <p:cNvPr id="9" name="Text 6"/>
          <p:cNvSpPr/>
          <p:nvPr/>
        </p:nvSpPr>
        <p:spPr>
          <a:xfrm>
            <a:off x="6731000" y="3837037"/>
            <a:ext cx="4787646"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FCA"/>
                </a:solidFill>
                <a:latin typeface="Plus Jakarta Sans" pitchFamily="34" charset="0"/>
                <a:ea typeface="Plus Jakarta Sans" pitchFamily="34" charset="-122"/>
                <a:cs typeface="Plus Jakarta Sans" pitchFamily="34" charset="-120"/>
              </a:rPr>
              <a:t>No shared record of which pack was already sold.</a:t>
            </a:r>
            <a:endParaRPr lang="en-US" sz="1300" dirty="0"/>
          </a:p>
        </p:txBody>
      </p:sp>
      <p:sp>
        <p:nvSpPr>
          <p:cNvPr id="10" name="Text 7"/>
          <p:cNvSpPr/>
          <p:nvPr/>
        </p:nvSpPr>
        <p:spPr>
          <a:xfrm>
            <a:off x="6731000" y="4322167"/>
            <a:ext cx="478764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1F6F4"/>
                </a:solidFill>
                <a:latin typeface="Plus Jakarta Sans" pitchFamily="34" charset="0"/>
                <a:ea typeface="Plus Jakarta Sans" pitchFamily="34" charset="-122"/>
                <a:cs typeface="Plus Jakarta Sans" pitchFamily="34" charset="-120"/>
              </a:rPr>
              <a:t>At the 3Arena, copies bounce</a:t>
            </a:r>
            <a:endParaRPr lang="en-US" sz="1700" dirty="0"/>
          </a:p>
        </p:txBody>
      </p:sp>
      <p:sp>
        <p:nvSpPr>
          <p:cNvPr id="11" name="Text 8"/>
          <p:cNvSpPr/>
          <p:nvPr/>
        </p:nvSpPr>
        <p:spPr>
          <a:xfrm>
            <a:off x="6731000" y="4632027"/>
            <a:ext cx="4787646"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FCA"/>
                </a:solidFill>
                <a:latin typeface="Plus Jakarta Sans" pitchFamily="34" charset="0"/>
                <a:ea typeface="Plus Jakarta Sans" pitchFamily="34" charset="-122"/>
                <a:cs typeface="Plus Jakarta Sans" pitchFamily="34" charset="-120"/>
              </a:rPr>
              <a:t>A screenshot gets in once. Medicine codes have no gate.</a:t>
            </a:r>
            <a:endParaRPr lang="en-US" sz="1300" dirty="0"/>
          </a:p>
        </p:txBody>
      </p:sp>
      <p:sp>
        <p:nvSpPr>
          <p:cNvPr id="12" name="Text 9"/>
          <p:cNvSpPr/>
          <p:nvPr/>
        </p:nvSpPr>
        <p:spPr>
          <a:xfrm>
            <a:off x="11174809" y="6238280"/>
            <a:ext cx="25519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9A4"/>
                </a:solidFill>
                <a:latin typeface="Plus Jakarta Sans" pitchFamily="34" charset="0"/>
                <a:ea typeface="Plus Jakarta Sans" pitchFamily="34" charset="-122"/>
                <a:cs typeface="Plus Jakarta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5D57"/>
                </a:solidFill>
                <a:latin typeface="Plus Jakarta Sans" pitchFamily="34" charset="0"/>
                <a:ea typeface="Plus Jakarta Sans" pitchFamily="34" charset="-122"/>
                <a:cs typeface="Plus Jakarta Sans" pitchFamily="34" charset="-120"/>
              </a:rPr>
              <a:t>SOLUTION</a:t>
            </a:r>
            <a:endParaRPr lang="en-US" sz="1200" dirty="0"/>
          </a:p>
        </p:txBody>
      </p:sp>
      <p:sp>
        <p:nvSpPr>
          <p:cNvPr id="3" name="Text 1"/>
          <p:cNvSpPr/>
          <p:nvPr/>
        </p:nvSpPr>
        <p:spPr>
          <a:xfrm>
            <a:off x="812800" y="1026120"/>
            <a:ext cx="10883392" cy="878780"/>
          </a:xfrm>
          <a:prstGeom prst="rect">
            <a:avLst/>
          </a:prstGeom>
          <a:noFill/>
          <a:ln/>
        </p:spPr>
        <p:txBody>
          <a:bodyPr wrap="square" lIns="0" tIns="0" rIns="0" bIns="0" rtlCol="0" anchor="t">
            <a:normAutofit/>
          </a:bodyPr>
          <a:lstStyle/>
          <a:p>
            <a:pPr marL="0" indent="0" algn="l">
              <a:lnSpc>
                <a:spcPts val="3360"/>
              </a:lnSpc>
              <a:buNone/>
            </a:pPr>
            <a:r>
              <a:rPr lang="en-US" sz="3000" b="1" kern="0" spc="-50" dirty="0">
                <a:solidFill>
                  <a:srgbClr val="12201E"/>
                </a:solidFill>
                <a:latin typeface="Plus Jakarta Sans" pitchFamily="34" charset="0"/>
                <a:ea typeface="Plus Jakarta Sans" pitchFamily="34" charset="-122"/>
                <a:cs typeface="Plus Jakarta Sans" pitchFamily="34" charset="-120"/>
              </a:rPr>
              <a:t>MedTrace adds the gate: every pack can be sold once, so copies get caught</a:t>
            </a:r>
            <a:endParaRPr lang="en-US" sz="3000" dirty="0"/>
          </a:p>
        </p:txBody>
      </p:sp>
      <p:sp>
        <p:nvSpPr>
          <p:cNvPr id="4" name="Shape 2"/>
          <p:cNvSpPr/>
          <p:nvPr/>
        </p:nvSpPr>
        <p:spPr>
          <a:xfrm>
            <a:off x="815975" y="2238276"/>
            <a:ext cx="2257425" cy="2241451"/>
          </a:xfrm>
          <a:prstGeom prst="roundRect">
            <a:avLst>
              <a:gd name="adj" fmla="val 6658"/>
            </a:avLst>
          </a:prstGeom>
          <a:solidFill>
            <a:srgbClr val="FFFFFF"/>
          </a:solidFill>
          <a:ln w="6350">
            <a:solidFill>
              <a:srgbClr val="D7E2DF"/>
            </a:solidFill>
            <a:prstDash val="solid"/>
          </a:ln>
        </p:spPr>
        <p:txBody>
          <a:bodyPr/>
          <a:lstStyle/>
          <a:p>
            <a:endParaRPr lang="en-US"/>
          </a:p>
        </p:txBody>
      </p:sp>
      <p:sp>
        <p:nvSpPr>
          <p:cNvPr id="5" name="Text 3"/>
          <p:cNvSpPr/>
          <p:nvPr/>
        </p:nvSpPr>
        <p:spPr>
          <a:xfrm>
            <a:off x="1047750" y="2470051"/>
            <a:ext cx="184769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5D57"/>
                </a:solidFill>
                <a:latin typeface="IBM Plex Mono" pitchFamily="34" charset="0"/>
                <a:ea typeface="IBM Plex Mono" pitchFamily="34" charset="-122"/>
                <a:cs typeface="IBM Plex Mono" pitchFamily="34" charset="-120"/>
              </a:rPr>
              <a:t>01</a:t>
            </a:r>
            <a:endParaRPr lang="en-US" sz="1200" dirty="0"/>
          </a:p>
        </p:txBody>
      </p:sp>
      <p:sp>
        <p:nvSpPr>
          <p:cNvPr id="6" name="Text 4"/>
          <p:cNvSpPr/>
          <p:nvPr/>
        </p:nvSpPr>
        <p:spPr>
          <a:xfrm>
            <a:off x="1047750" y="2772271"/>
            <a:ext cx="1847691" cy="355600"/>
          </a:xfrm>
          <a:prstGeom prst="rect">
            <a:avLst/>
          </a:prstGeom>
          <a:noFill/>
          <a:ln/>
        </p:spPr>
        <p:txBody>
          <a:bodyPr wrap="square" lIns="0" tIns="0" rIns="0" bIns="0" rtlCol="0" anchor="t">
            <a:normAutofit/>
          </a:bodyPr>
          <a:lstStyle/>
          <a:p>
            <a:pPr marL="0" indent="0" algn="l">
              <a:lnSpc>
                <a:spcPts val="2600"/>
              </a:lnSpc>
              <a:buNone/>
            </a:pPr>
            <a:r>
              <a:rPr lang="en-US" sz="2600" dirty="0">
                <a:solidFill>
                  <a:srgbClr val="12201E"/>
                </a:solidFill>
                <a:latin typeface="Plus Jakarta Sans" pitchFamily="34" charset="0"/>
                <a:ea typeface="Plus Jakarta Sans" pitchFamily="34" charset="-122"/>
                <a:cs typeface="Plus Jakarta Sans" pitchFamily="34" charset="-120"/>
              </a:rPr>
              <a:t>🏭</a:t>
            </a:r>
            <a:endParaRPr lang="en-US" sz="2600" dirty="0"/>
          </a:p>
        </p:txBody>
      </p:sp>
      <p:sp>
        <p:nvSpPr>
          <p:cNvPr id="7" name="Text 5"/>
          <p:cNvSpPr/>
          <p:nvPr/>
        </p:nvSpPr>
        <p:spPr>
          <a:xfrm>
            <a:off x="1047750" y="3191371"/>
            <a:ext cx="1847691"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1E"/>
                </a:solidFill>
                <a:latin typeface="Plus Jakarta Sans" pitchFamily="34" charset="0"/>
                <a:ea typeface="Plus Jakarta Sans" pitchFamily="34" charset="-122"/>
                <a:cs typeface="Plus Jakarta Sans" pitchFamily="34" charset="-120"/>
              </a:rPr>
              <a:t>Register</a:t>
            </a:r>
            <a:endParaRPr lang="en-US" sz="1800" dirty="0"/>
          </a:p>
        </p:txBody>
      </p:sp>
      <p:sp>
        <p:nvSpPr>
          <p:cNvPr id="8" name="Text 6"/>
          <p:cNvSpPr/>
          <p:nvPr/>
        </p:nvSpPr>
        <p:spPr>
          <a:xfrm>
            <a:off x="1047750" y="3554561"/>
            <a:ext cx="1847691"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4A46"/>
                </a:solidFill>
                <a:latin typeface="Plus Jakarta Sans" pitchFamily="34" charset="0"/>
                <a:ea typeface="Plus Jakarta Sans" pitchFamily="34" charset="-122"/>
                <a:cs typeface="Plus Jakarta Sans" pitchFamily="34" charset="-120"/>
              </a:rPr>
              <a:t>Manufacturer creates the pack's unique identity</a:t>
            </a:r>
            <a:endParaRPr lang="en-US" sz="1300" dirty="0"/>
          </a:p>
        </p:txBody>
      </p:sp>
      <p:sp>
        <p:nvSpPr>
          <p:cNvPr id="9" name="Text 7"/>
          <p:cNvSpPr/>
          <p:nvPr/>
        </p:nvSpPr>
        <p:spPr>
          <a:xfrm>
            <a:off x="3178175" y="3145631"/>
            <a:ext cx="355600"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B5D57"/>
                </a:solidFill>
                <a:latin typeface="Plus Jakarta Sans" pitchFamily="34" charset="0"/>
                <a:ea typeface="Plus Jakarta Sans" pitchFamily="34" charset="-122"/>
                <a:cs typeface="Plus Jakarta Sans" pitchFamily="34" charset="-120"/>
              </a:rPr>
              <a:t>→</a:t>
            </a:r>
            <a:endParaRPr lang="en-US" sz="2400" dirty="0"/>
          </a:p>
        </p:txBody>
      </p:sp>
      <p:sp>
        <p:nvSpPr>
          <p:cNvPr id="10" name="Shape 8"/>
          <p:cNvSpPr/>
          <p:nvPr/>
        </p:nvSpPr>
        <p:spPr>
          <a:xfrm>
            <a:off x="3587750" y="2238276"/>
            <a:ext cx="2257425" cy="2241451"/>
          </a:xfrm>
          <a:prstGeom prst="roundRect">
            <a:avLst>
              <a:gd name="adj" fmla="val 6658"/>
            </a:avLst>
          </a:prstGeom>
          <a:solidFill>
            <a:srgbClr val="FFFFFF"/>
          </a:solidFill>
          <a:ln w="6350">
            <a:solidFill>
              <a:srgbClr val="D7E2DF"/>
            </a:solidFill>
            <a:prstDash val="solid"/>
          </a:ln>
        </p:spPr>
        <p:txBody>
          <a:bodyPr/>
          <a:lstStyle/>
          <a:p>
            <a:endParaRPr lang="en-US"/>
          </a:p>
        </p:txBody>
      </p:sp>
      <p:sp>
        <p:nvSpPr>
          <p:cNvPr id="11" name="Text 9"/>
          <p:cNvSpPr/>
          <p:nvPr/>
        </p:nvSpPr>
        <p:spPr>
          <a:xfrm>
            <a:off x="3819525" y="2470051"/>
            <a:ext cx="184769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5D57"/>
                </a:solidFill>
                <a:latin typeface="IBM Plex Mono" pitchFamily="34" charset="0"/>
                <a:ea typeface="IBM Plex Mono" pitchFamily="34" charset="-122"/>
                <a:cs typeface="IBM Plex Mono" pitchFamily="34" charset="-120"/>
              </a:rPr>
              <a:t>02</a:t>
            </a:r>
            <a:endParaRPr lang="en-US" sz="1200" dirty="0"/>
          </a:p>
        </p:txBody>
      </p:sp>
      <p:sp>
        <p:nvSpPr>
          <p:cNvPr id="12" name="Text 10"/>
          <p:cNvSpPr/>
          <p:nvPr/>
        </p:nvSpPr>
        <p:spPr>
          <a:xfrm>
            <a:off x="3819525" y="2772271"/>
            <a:ext cx="1847691" cy="355600"/>
          </a:xfrm>
          <a:prstGeom prst="rect">
            <a:avLst/>
          </a:prstGeom>
          <a:noFill/>
          <a:ln/>
        </p:spPr>
        <p:txBody>
          <a:bodyPr wrap="square" lIns="0" tIns="0" rIns="0" bIns="0" rtlCol="0" anchor="t">
            <a:normAutofit/>
          </a:bodyPr>
          <a:lstStyle/>
          <a:p>
            <a:pPr marL="0" indent="0" algn="l">
              <a:lnSpc>
                <a:spcPts val="2600"/>
              </a:lnSpc>
              <a:buNone/>
            </a:pPr>
            <a:r>
              <a:rPr lang="en-US" sz="2600" dirty="0">
                <a:solidFill>
                  <a:srgbClr val="12201E"/>
                </a:solidFill>
                <a:latin typeface="Plus Jakarta Sans" pitchFamily="34" charset="0"/>
                <a:ea typeface="Plus Jakarta Sans" pitchFamily="34" charset="-122"/>
                <a:cs typeface="Plus Jakarta Sans" pitchFamily="34" charset="-120"/>
              </a:rPr>
              <a:t>🚚</a:t>
            </a:r>
            <a:endParaRPr lang="en-US" sz="2600" dirty="0"/>
          </a:p>
        </p:txBody>
      </p:sp>
      <p:sp>
        <p:nvSpPr>
          <p:cNvPr id="13" name="Text 11"/>
          <p:cNvSpPr/>
          <p:nvPr/>
        </p:nvSpPr>
        <p:spPr>
          <a:xfrm>
            <a:off x="3819525" y="3191371"/>
            <a:ext cx="1847691"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1E"/>
                </a:solidFill>
                <a:latin typeface="Plus Jakarta Sans" pitchFamily="34" charset="0"/>
                <a:ea typeface="Plus Jakarta Sans" pitchFamily="34" charset="-122"/>
                <a:cs typeface="Plus Jakarta Sans" pitchFamily="34" charset="-120"/>
              </a:rPr>
              <a:t>Hand off</a:t>
            </a:r>
            <a:endParaRPr lang="en-US" sz="1800" dirty="0"/>
          </a:p>
        </p:txBody>
      </p:sp>
      <p:sp>
        <p:nvSpPr>
          <p:cNvPr id="14" name="Text 12"/>
          <p:cNvSpPr/>
          <p:nvPr/>
        </p:nvSpPr>
        <p:spPr>
          <a:xfrm>
            <a:off x="3819525" y="3554561"/>
            <a:ext cx="1847691"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4A46"/>
                </a:solidFill>
                <a:latin typeface="Plus Jakarta Sans" pitchFamily="34" charset="0"/>
                <a:ea typeface="Plus Jakarta Sans" pitchFamily="34" charset="-122"/>
                <a:cs typeface="Plus Jakarta Sans" pitchFamily="34" charset="-120"/>
              </a:rPr>
              <a:t>Each custody change (distributor → pharmacy) is recorded</a:t>
            </a:r>
            <a:endParaRPr lang="en-US" sz="1300" dirty="0"/>
          </a:p>
        </p:txBody>
      </p:sp>
      <p:sp>
        <p:nvSpPr>
          <p:cNvPr id="15" name="Text 13"/>
          <p:cNvSpPr/>
          <p:nvPr/>
        </p:nvSpPr>
        <p:spPr>
          <a:xfrm>
            <a:off x="5949950" y="3145631"/>
            <a:ext cx="355600"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B5D57"/>
                </a:solidFill>
                <a:latin typeface="Plus Jakarta Sans" pitchFamily="34" charset="0"/>
                <a:ea typeface="Plus Jakarta Sans" pitchFamily="34" charset="-122"/>
                <a:cs typeface="Plus Jakarta Sans" pitchFamily="34" charset="-120"/>
              </a:rPr>
              <a:t>→</a:t>
            </a:r>
            <a:endParaRPr lang="en-US" sz="2400" dirty="0"/>
          </a:p>
        </p:txBody>
      </p:sp>
      <p:sp>
        <p:nvSpPr>
          <p:cNvPr id="16" name="Shape 14"/>
          <p:cNvSpPr/>
          <p:nvPr/>
        </p:nvSpPr>
        <p:spPr>
          <a:xfrm>
            <a:off x="6356350" y="2235101"/>
            <a:ext cx="2251075" cy="2247801"/>
          </a:xfrm>
          <a:prstGeom prst="roundRect">
            <a:avLst>
              <a:gd name="adj" fmla="val 6780"/>
            </a:avLst>
          </a:prstGeom>
          <a:solidFill>
            <a:srgbClr val="0B5D57"/>
          </a:solidFill>
          <a:ln/>
        </p:spPr>
        <p:txBody>
          <a:bodyPr/>
          <a:lstStyle/>
          <a:p>
            <a:endParaRPr lang="en-US"/>
          </a:p>
        </p:txBody>
      </p:sp>
      <p:sp>
        <p:nvSpPr>
          <p:cNvPr id="17" name="Text 15"/>
          <p:cNvSpPr/>
          <p:nvPr/>
        </p:nvSpPr>
        <p:spPr>
          <a:xfrm>
            <a:off x="6584950" y="2463701"/>
            <a:ext cx="184769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E6C8"/>
                </a:solidFill>
                <a:latin typeface="IBM Plex Mono" pitchFamily="34" charset="0"/>
                <a:ea typeface="IBM Plex Mono" pitchFamily="34" charset="-122"/>
                <a:cs typeface="IBM Plex Mono" pitchFamily="34" charset="-120"/>
              </a:rPr>
              <a:t>03 · THE GATE</a:t>
            </a:r>
            <a:endParaRPr lang="en-US" sz="1200" dirty="0"/>
          </a:p>
        </p:txBody>
      </p:sp>
      <p:sp>
        <p:nvSpPr>
          <p:cNvPr id="18" name="Text 16"/>
          <p:cNvSpPr/>
          <p:nvPr/>
        </p:nvSpPr>
        <p:spPr>
          <a:xfrm>
            <a:off x="6584950" y="2765921"/>
            <a:ext cx="1847691" cy="355600"/>
          </a:xfrm>
          <a:prstGeom prst="rect">
            <a:avLst/>
          </a:prstGeom>
          <a:noFill/>
          <a:ln/>
        </p:spPr>
        <p:txBody>
          <a:bodyPr wrap="square" lIns="0" tIns="0" rIns="0" bIns="0" rtlCol="0" anchor="t">
            <a:normAutofit/>
          </a:bodyPr>
          <a:lstStyle/>
          <a:p>
            <a:pPr marL="0" indent="0" algn="l">
              <a:lnSpc>
                <a:spcPts val="2600"/>
              </a:lnSpc>
              <a:buNone/>
            </a:pPr>
            <a:r>
              <a:rPr lang="en-US" sz="2600" dirty="0">
                <a:solidFill>
                  <a:srgbClr val="FFFFFF"/>
                </a:solidFill>
                <a:latin typeface="Plus Jakarta Sans" pitchFamily="34" charset="0"/>
                <a:ea typeface="Plus Jakarta Sans" pitchFamily="34" charset="-122"/>
                <a:cs typeface="Plus Jakarta Sans" pitchFamily="34" charset="-120"/>
              </a:rPr>
              <a:t>🎟️</a:t>
            </a:r>
            <a:endParaRPr lang="en-US" sz="2600" dirty="0"/>
          </a:p>
        </p:txBody>
      </p:sp>
      <p:sp>
        <p:nvSpPr>
          <p:cNvPr id="19" name="Text 17"/>
          <p:cNvSpPr/>
          <p:nvPr/>
        </p:nvSpPr>
        <p:spPr>
          <a:xfrm>
            <a:off x="6584950" y="3185021"/>
            <a:ext cx="1847691"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FFFFF"/>
                </a:solidFill>
                <a:latin typeface="Plus Jakarta Sans" pitchFamily="34" charset="0"/>
                <a:ea typeface="Plus Jakarta Sans" pitchFamily="34" charset="-122"/>
                <a:cs typeface="Plus Jakarta Sans" pitchFamily="34" charset="-120"/>
              </a:rPr>
              <a:t>Dispense</a:t>
            </a:r>
            <a:endParaRPr lang="en-US" sz="1800" dirty="0"/>
          </a:p>
        </p:txBody>
      </p:sp>
      <p:sp>
        <p:nvSpPr>
          <p:cNvPr id="20" name="Text 18"/>
          <p:cNvSpPr/>
          <p:nvPr/>
        </p:nvSpPr>
        <p:spPr>
          <a:xfrm>
            <a:off x="6584950" y="3548211"/>
            <a:ext cx="1847691"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DEFE8"/>
                </a:solidFill>
                <a:latin typeface="Plus Jakarta Sans" pitchFamily="34" charset="0"/>
                <a:ea typeface="Plus Jakarta Sans" pitchFamily="34" charset="-122"/>
                <a:cs typeface="Plus Jakarta Sans" pitchFamily="34" charset="-120"/>
              </a:rPr>
              <a:t>Pharmacy sells it once, then it's marked “used”</a:t>
            </a:r>
            <a:endParaRPr lang="en-US" sz="1300" dirty="0"/>
          </a:p>
        </p:txBody>
      </p:sp>
      <p:sp>
        <p:nvSpPr>
          <p:cNvPr id="21" name="Text 19"/>
          <p:cNvSpPr/>
          <p:nvPr/>
        </p:nvSpPr>
        <p:spPr>
          <a:xfrm>
            <a:off x="8709025" y="3145631"/>
            <a:ext cx="355600"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B5D57"/>
                </a:solidFill>
                <a:latin typeface="Plus Jakarta Sans" pitchFamily="34" charset="0"/>
                <a:ea typeface="Plus Jakarta Sans" pitchFamily="34" charset="-122"/>
                <a:cs typeface="Plus Jakarta Sans" pitchFamily="34" charset="-120"/>
              </a:rPr>
              <a:t>→</a:t>
            </a:r>
            <a:endParaRPr lang="en-US" sz="2400" dirty="0"/>
          </a:p>
        </p:txBody>
      </p:sp>
      <p:sp>
        <p:nvSpPr>
          <p:cNvPr id="22" name="Shape 20"/>
          <p:cNvSpPr/>
          <p:nvPr/>
        </p:nvSpPr>
        <p:spPr>
          <a:xfrm>
            <a:off x="9118600" y="2238276"/>
            <a:ext cx="2257425" cy="2241451"/>
          </a:xfrm>
          <a:prstGeom prst="roundRect">
            <a:avLst>
              <a:gd name="adj" fmla="val 6658"/>
            </a:avLst>
          </a:prstGeom>
          <a:solidFill>
            <a:srgbClr val="FFFFFF"/>
          </a:solidFill>
          <a:ln w="6350">
            <a:solidFill>
              <a:srgbClr val="D7E2DF"/>
            </a:solidFill>
            <a:prstDash val="solid"/>
          </a:ln>
        </p:spPr>
        <p:txBody>
          <a:bodyPr/>
          <a:lstStyle/>
          <a:p>
            <a:endParaRPr lang="en-US"/>
          </a:p>
        </p:txBody>
      </p:sp>
      <p:sp>
        <p:nvSpPr>
          <p:cNvPr id="23" name="Text 21"/>
          <p:cNvSpPr/>
          <p:nvPr/>
        </p:nvSpPr>
        <p:spPr>
          <a:xfrm>
            <a:off x="9350375" y="2470051"/>
            <a:ext cx="184769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5D57"/>
                </a:solidFill>
                <a:latin typeface="IBM Plex Mono" pitchFamily="34" charset="0"/>
                <a:ea typeface="IBM Plex Mono" pitchFamily="34" charset="-122"/>
                <a:cs typeface="IBM Plex Mono" pitchFamily="34" charset="-120"/>
              </a:rPr>
              <a:t>04</a:t>
            </a:r>
            <a:endParaRPr lang="en-US" sz="1200" dirty="0"/>
          </a:p>
        </p:txBody>
      </p:sp>
      <p:sp>
        <p:nvSpPr>
          <p:cNvPr id="24" name="Text 22"/>
          <p:cNvSpPr/>
          <p:nvPr/>
        </p:nvSpPr>
        <p:spPr>
          <a:xfrm>
            <a:off x="9350375" y="2772271"/>
            <a:ext cx="1847691" cy="355600"/>
          </a:xfrm>
          <a:prstGeom prst="rect">
            <a:avLst/>
          </a:prstGeom>
          <a:noFill/>
          <a:ln/>
        </p:spPr>
        <p:txBody>
          <a:bodyPr wrap="square" lIns="0" tIns="0" rIns="0" bIns="0" rtlCol="0" anchor="t">
            <a:normAutofit/>
          </a:bodyPr>
          <a:lstStyle/>
          <a:p>
            <a:pPr marL="0" indent="0" algn="l">
              <a:lnSpc>
                <a:spcPts val="2600"/>
              </a:lnSpc>
              <a:buNone/>
            </a:pPr>
            <a:r>
              <a:rPr lang="en-US" sz="2600" dirty="0">
                <a:solidFill>
                  <a:srgbClr val="12201E"/>
                </a:solidFill>
                <a:latin typeface="Plus Jakarta Sans" pitchFamily="34" charset="0"/>
                <a:ea typeface="Plus Jakarta Sans" pitchFamily="34" charset="-122"/>
                <a:cs typeface="Plus Jakarta Sans" pitchFamily="34" charset="-120"/>
              </a:rPr>
              <a:t>📱</a:t>
            </a:r>
            <a:endParaRPr lang="en-US" sz="2600" dirty="0"/>
          </a:p>
        </p:txBody>
      </p:sp>
      <p:sp>
        <p:nvSpPr>
          <p:cNvPr id="25" name="Text 23"/>
          <p:cNvSpPr/>
          <p:nvPr/>
        </p:nvSpPr>
        <p:spPr>
          <a:xfrm>
            <a:off x="9350375" y="3191371"/>
            <a:ext cx="1847691"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1E"/>
                </a:solidFill>
                <a:latin typeface="Plus Jakarta Sans" pitchFamily="34" charset="0"/>
                <a:ea typeface="Plus Jakarta Sans" pitchFamily="34" charset="-122"/>
                <a:cs typeface="Plus Jakarta Sans" pitchFamily="34" charset="-120"/>
              </a:rPr>
              <a:t>Verify</a:t>
            </a:r>
            <a:endParaRPr lang="en-US" sz="1800" dirty="0"/>
          </a:p>
        </p:txBody>
      </p:sp>
      <p:sp>
        <p:nvSpPr>
          <p:cNvPr id="26" name="Text 24"/>
          <p:cNvSpPr/>
          <p:nvPr/>
        </p:nvSpPr>
        <p:spPr>
          <a:xfrm>
            <a:off x="9350375" y="3554561"/>
            <a:ext cx="1847691"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4A46"/>
                </a:solidFill>
                <a:latin typeface="Plus Jakarta Sans" pitchFamily="34" charset="0"/>
                <a:ea typeface="Plus Jakarta Sans" pitchFamily="34" charset="-122"/>
                <a:cs typeface="Plus Jakarta Sans" pitchFamily="34" charset="-120"/>
              </a:rPr>
              <a:t>Patient scans and gets a verdict in 5 seconds</a:t>
            </a:r>
            <a:endParaRPr lang="en-US" sz="1300" dirty="0"/>
          </a:p>
        </p:txBody>
      </p:sp>
      <p:sp>
        <p:nvSpPr>
          <p:cNvPr id="27" name="Shape 25"/>
          <p:cNvSpPr/>
          <p:nvPr/>
        </p:nvSpPr>
        <p:spPr>
          <a:xfrm>
            <a:off x="812800" y="4838502"/>
            <a:ext cx="10566400" cy="920750"/>
          </a:xfrm>
          <a:prstGeom prst="roundRect">
            <a:avLst>
              <a:gd name="adj" fmla="val 16552"/>
            </a:avLst>
          </a:prstGeom>
          <a:solidFill>
            <a:srgbClr val="E3EFEC"/>
          </a:solidFill>
          <a:ln/>
        </p:spPr>
        <p:txBody>
          <a:bodyPr/>
          <a:lstStyle/>
          <a:p>
            <a:endParaRPr lang="en-US"/>
          </a:p>
        </p:txBody>
      </p:sp>
      <p:sp>
        <p:nvSpPr>
          <p:cNvPr id="28" name="Text 26"/>
          <p:cNvSpPr/>
          <p:nvPr/>
        </p:nvSpPr>
        <p:spPr>
          <a:xfrm>
            <a:off x="1117600" y="5085556"/>
            <a:ext cx="810171" cy="45204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5D57"/>
                </a:solidFill>
                <a:latin typeface="Plus Jakarta Sans" pitchFamily="34" charset="0"/>
                <a:ea typeface="Plus Jakarta Sans" pitchFamily="34" charset="-122"/>
                <a:cs typeface="Plus Jakarta Sans" pitchFamily="34" charset="-120"/>
              </a:rPr>
              <a:t>IN IRELAND</a:t>
            </a:r>
            <a:endParaRPr lang="en-US" sz="1200" dirty="0"/>
          </a:p>
        </p:txBody>
      </p:sp>
      <p:sp>
        <p:nvSpPr>
          <p:cNvPr id="29" name="Text 27"/>
          <p:cNvSpPr/>
          <p:nvPr/>
        </p:nvSpPr>
        <p:spPr>
          <a:xfrm>
            <a:off x="2054771" y="5041702"/>
            <a:ext cx="9290218"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2201E"/>
                </a:solidFill>
                <a:latin typeface="Plus Jakarta Sans" pitchFamily="34" charset="0"/>
                <a:ea typeface="Plus Jakarta Sans" pitchFamily="34" charset="-122"/>
                <a:cs typeface="Plus Jakarta Sans" pitchFamily="34" charset="-120"/>
              </a:rPr>
              <a:t>Irish pharmacists have scanned and cancelled prescription packs since 2019. </a:t>
            </a:r>
            <a:r>
              <a:rPr lang="en-US" sz="1500" b="1" dirty="0">
                <a:solidFill>
                  <a:srgbClr val="12201E"/>
                </a:solidFill>
                <a:latin typeface="Plus Jakarta Sans" pitchFamily="34" charset="0"/>
                <a:ea typeface="Plus Jakarta Sans" pitchFamily="34" charset="-122"/>
                <a:cs typeface="Plus Jakarta Sans" pitchFamily="34" charset="-120"/>
              </a:rPr>
              <a:t>MedTrace brings that logic where it doesn't exist.</a:t>
            </a:r>
            <a:endParaRPr lang="en-US" sz="1500" dirty="0"/>
          </a:p>
        </p:txBody>
      </p:sp>
      <p:sp>
        <p:nvSpPr>
          <p:cNvPr id="30" name="Text 28"/>
          <p:cNvSpPr/>
          <p:nvPr/>
        </p:nvSpPr>
        <p:spPr>
          <a:xfrm>
            <a:off x="11171585" y="6238280"/>
            <a:ext cx="25841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5D57"/>
                </a:solidFill>
                <a:latin typeface="Plus Jakarta Sans" pitchFamily="34" charset="0"/>
                <a:ea typeface="Plus Jakarta Sans" pitchFamily="34" charset="-122"/>
                <a:cs typeface="Plus Jakarta Sans" pitchFamily="34" charset="-120"/>
              </a:rPr>
              <a:t>HOW SOLANA IS INTEGRATED</a:t>
            </a:r>
            <a:endParaRPr lang="en-US" sz="1200" dirty="0"/>
          </a:p>
        </p:txBody>
      </p:sp>
      <p:sp>
        <p:nvSpPr>
          <p:cNvPr id="3" name="Text 1"/>
          <p:cNvSpPr/>
          <p:nvPr/>
        </p:nvSpPr>
        <p:spPr>
          <a:xfrm>
            <a:off x="812800" y="1026120"/>
            <a:ext cx="10883392" cy="836116"/>
          </a:xfrm>
          <a:prstGeom prst="rect">
            <a:avLst/>
          </a:prstGeom>
          <a:noFill/>
          <a:ln/>
        </p:spPr>
        <p:txBody>
          <a:bodyPr wrap="square" lIns="0" tIns="0" rIns="0" bIns="0" rtlCol="0" anchor="t">
            <a:normAutofit/>
          </a:bodyPr>
          <a:lstStyle/>
          <a:p>
            <a:pPr marL="0" indent="0" algn="l">
              <a:lnSpc>
                <a:spcPts val="3192"/>
              </a:lnSpc>
              <a:buNone/>
            </a:pPr>
            <a:r>
              <a:rPr lang="en-US" sz="2800" b="1" kern="0" spc="-50" dirty="0">
                <a:solidFill>
                  <a:srgbClr val="12201E"/>
                </a:solidFill>
                <a:latin typeface="Plus Jakarta Sans" pitchFamily="34" charset="0"/>
                <a:ea typeface="Plus Jakarta Sans" pitchFamily="34" charset="-122"/>
                <a:cs typeface="Plus Jakarta Sans" pitchFamily="34" charset="-120"/>
              </a:rPr>
              <a:t>Solana is the gate no single party controls, because in these markets no one is trusted by everyone</a:t>
            </a:r>
            <a:endParaRPr lang="en-US" sz="2800" dirty="0"/>
          </a:p>
        </p:txBody>
      </p:sp>
      <p:sp>
        <p:nvSpPr>
          <p:cNvPr id="4" name="Shape 2"/>
          <p:cNvSpPr/>
          <p:nvPr/>
        </p:nvSpPr>
        <p:spPr>
          <a:xfrm>
            <a:off x="815975" y="2094012"/>
            <a:ext cx="3397250" cy="1294110"/>
          </a:xfrm>
          <a:prstGeom prst="roundRect">
            <a:avLst>
              <a:gd name="adj" fmla="val 11531"/>
            </a:avLst>
          </a:prstGeom>
          <a:solidFill>
            <a:srgbClr val="FFFFFF"/>
          </a:solidFill>
          <a:ln w="6350">
            <a:solidFill>
              <a:srgbClr val="D7E2DF"/>
            </a:solidFill>
            <a:prstDash val="solid"/>
          </a:ln>
        </p:spPr>
        <p:txBody>
          <a:bodyPr/>
          <a:lstStyle/>
          <a:p>
            <a:endParaRPr lang="en-US"/>
          </a:p>
        </p:txBody>
      </p:sp>
      <p:sp>
        <p:nvSpPr>
          <p:cNvPr id="5" name="Text 3"/>
          <p:cNvSpPr/>
          <p:nvPr/>
        </p:nvSpPr>
        <p:spPr>
          <a:xfrm>
            <a:off x="1022350" y="2300387"/>
            <a:ext cx="3074035"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12201E"/>
                </a:solidFill>
                <a:latin typeface="Plus Jakarta Sans" pitchFamily="34" charset="0"/>
                <a:ea typeface="Plus Jakarta Sans" pitchFamily="34" charset="-122"/>
                <a:cs typeface="Plus Jakarta Sans" pitchFamily="34" charset="-120"/>
              </a:rPr>
              <a:t>🔑</a:t>
            </a:r>
            <a:endParaRPr lang="en-US" sz="2200" dirty="0"/>
          </a:p>
        </p:txBody>
      </p:sp>
      <p:sp>
        <p:nvSpPr>
          <p:cNvPr id="6" name="Text 4"/>
          <p:cNvSpPr/>
          <p:nvPr/>
        </p:nvSpPr>
        <p:spPr>
          <a:xfrm>
            <a:off x="1022350" y="2643287"/>
            <a:ext cx="307403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1E"/>
                </a:solidFill>
                <a:latin typeface="Plus Jakarta Sans" pitchFamily="34" charset="0"/>
                <a:ea typeface="Plus Jakarta Sans" pitchFamily="34" charset="-122"/>
                <a:cs typeface="Plus Jakarta Sans" pitchFamily="34" charset="-120"/>
              </a:rPr>
              <a:t>One serial, one record</a:t>
            </a:r>
            <a:endParaRPr lang="en-US" sz="1600" dirty="0"/>
          </a:p>
        </p:txBody>
      </p:sp>
      <p:sp>
        <p:nvSpPr>
          <p:cNvPr id="7" name="Text 5"/>
          <p:cNvSpPr/>
          <p:nvPr/>
        </p:nvSpPr>
        <p:spPr>
          <a:xfrm>
            <a:off x="1022350" y="2950617"/>
            <a:ext cx="3074035"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4A46"/>
                </a:solidFill>
                <a:latin typeface="Plus Jakarta Sans" pitchFamily="34" charset="0"/>
                <a:ea typeface="Plus Jakarta Sans" pitchFamily="34" charset="-122"/>
                <a:cs typeface="Plus Jakarta Sans" pitchFamily="34" charset="-120"/>
              </a:rPr>
              <a:t>Duplicates are impossible</a:t>
            </a:r>
            <a:endParaRPr lang="en-US" sz="1300" dirty="0"/>
          </a:p>
        </p:txBody>
      </p:sp>
      <p:sp>
        <p:nvSpPr>
          <p:cNvPr id="8" name="Shape 6"/>
          <p:cNvSpPr/>
          <p:nvPr/>
        </p:nvSpPr>
        <p:spPr>
          <a:xfrm>
            <a:off x="4397375" y="2094012"/>
            <a:ext cx="3397250" cy="1294110"/>
          </a:xfrm>
          <a:prstGeom prst="roundRect">
            <a:avLst>
              <a:gd name="adj" fmla="val 11531"/>
            </a:avLst>
          </a:prstGeom>
          <a:solidFill>
            <a:srgbClr val="FFFFFF"/>
          </a:solidFill>
          <a:ln w="6350">
            <a:solidFill>
              <a:srgbClr val="D7E2DF"/>
            </a:solidFill>
            <a:prstDash val="solid"/>
          </a:ln>
        </p:spPr>
        <p:txBody>
          <a:bodyPr/>
          <a:lstStyle/>
          <a:p>
            <a:endParaRPr lang="en-US"/>
          </a:p>
        </p:txBody>
      </p:sp>
      <p:sp>
        <p:nvSpPr>
          <p:cNvPr id="9" name="Text 7"/>
          <p:cNvSpPr/>
          <p:nvPr/>
        </p:nvSpPr>
        <p:spPr>
          <a:xfrm>
            <a:off x="4603750" y="2300387"/>
            <a:ext cx="3074035"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12201E"/>
                </a:solidFill>
                <a:latin typeface="Plus Jakarta Sans" pitchFamily="34" charset="0"/>
                <a:ea typeface="Plus Jakarta Sans" pitchFamily="34" charset="-122"/>
                <a:cs typeface="Plus Jakarta Sans" pitchFamily="34" charset="-120"/>
              </a:rPr>
              <a:t>✍️</a:t>
            </a:r>
            <a:endParaRPr lang="en-US" sz="2200" dirty="0"/>
          </a:p>
        </p:txBody>
      </p:sp>
      <p:sp>
        <p:nvSpPr>
          <p:cNvPr id="10" name="Text 8"/>
          <p:cNvSpPr/>
          <p:nvPr/>
        </p:nvSpPr>
        <p:spPr>
          <a:xfrm>
            <a:off x="4603750" y="2643287"/>
            <a:ext cx="307403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1E"/>
                </a:solidFill>
                <a:latin typeface="Plus Jakarta Sans" pitchFamily="34" charset="0"/>
                <a:ea typeface="Plus Jakarta Sans" pitchFamily="34" charset="-122"/>
                <a:cs typeface="Plus Jakarta Sans" pitchFamily="34" charset="-120"/>
              </a:rPr>
              <a:t>Only the holder can act</a:t>
            </a:r>
            <a:endParaRPr lang="en-US" sz="1600" dirty="0"/>
          </a:p>
        </p:txBody>
      </p:sp>
      <p:sp>
        <p:nvSpPr>
          <p:cNvPr id="11" name="Text 9"/>
          <p:cNvSpPr/>
          <p:nvPr/>
        </p:nvSpPr>
        <p:spPr>
          <a:xfrm>
            <a:off x="4603750" y="2950617"/>
            <a:ext cx="3074035"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4A46"/>
                </a:solidFill>
                <a:latin typeface="Plus Jakarta Sans" pitchFamily="34" charset="0"/>
                <a:ea typeface="Plus Jakarta Sans" pitchFamily="34" charset="-122"/>
                <a:cs typeface="Plus Jakarta Sans" pitchFamily="34" charset="-120"/>
              </a:rPr>
              <a:t>Every handoff is signed</a:t>
            </a:r>
            <a:endParaRPr lang="en-US" sz="1300" dirty="0"/>
          </a:p>
        </p:txBody>
      </p:sp>
      <p:sp>
        <p:nvSpPr>
          <p:cNvPr id="12" name="Shape 10"/>
          <p:cNvSpPr/>
          <p:nvPr/>
        </p:nvSpPr>
        <p:spPr>
          <a:xfrm>
            <a:off x="7978775" y="2094012"/>
            <a:ext cx="3397250" cy="1294110"/>
          </a:xfrm>
          <a:prstGeom prst="roundRect">
            <a:avLst>
              <a:gd name="adj" fmla="val 11531"/>
            </a:avLst>
          </a:prstGeom>
          <a:solidFill>
            <a:srgbClr val="FFFFFF"/>
          </a:solidFill>
          <a:ln w="6350">
            <a:solidFill>
              <a:srgbClr val="D7E2DF"/>
            </a:solidFill>
            <a:prstDash val="solid"/>
          </a:ln>
        </p:spPr>
        <p:txBody>
          <a:bodyPr/>
          <a:lstStyle/>
          <a:p>
            <a:endParaRPr lang="en-US"/>
          </a:p>
        </p:txBody>
      </p:sp>
      <p:sp>
        <p:nvSpPr>
          <p:cNvPr id="13" name="Text 11"/>
          <p:cNvSpPr/>
          <p:nvPr/>
        </p:nvSpPr>
        <p:spPr>
          <a:xfrm>
            <a:off x="8185150" y="2300387"/>
            <a:ext cx="3074035"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12201E"/>
                </a:solidFill>
                <a:latin typeface="Plus Jakarta Sans" pitchFamily="34" charset="0"/>
                <a:ea typeface="Plus Jakarta Sans" pitchFamily="34" charset="-122"/>
                <a:cs typeface="Plus Jakarta Sans" pitchFamily="34" charset="-120"/>
              </a:rPr>
              <a:t>🔒</a:t>
            </a:r>
            <a:endParaRPr lang="en-US" sz="2200" dirty="0"/>
          </a:p>
        </p:txBody>
      </p:sp>
      <p:sp>
        <p:nvSpPr>
          <p:cNvPr id="14" name="Text 12"/>
          <p:cNvSpPr/>
          <p:nvPr/>
        </p:nvSpPr>
        <p:spPr>
          <a:xfrm>
            <a:off x="8185150" y="2643287"/>
            <a:ext cx="307403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1E"/>
                </a:solidFill>
                <a:latin typeface="Plus Jakarta Sans" pitchFamily="34" charset="0"/>
                <a:ea typeface="Plus Jakarta Sans" pitchFamily="34" charset="-122"/>
                <a:cs typeface="Plus Jakarta Sans" pitchFamily="34" charset="-120"/>
              </a:rPr>
              <a:t>Sold means sold, forever</a:t>
            </a:r>
            <a:endParaRPr lang="en-US" sz="1600" dirty="0"/>
          </a:p>
        </p:txBody>
      </p:sp>
      <p:sp>
        <p:nvSpPr>
          <p:cNvPr id="15" name="Text 13"/>
          <p:cNvSpPr/>
          <p:nvPr/>
        </p:nvSpPr>
        <p:spPr>
          <a:xfrm>
            <a:off x="8185150" y="2950617"/>
            <a:ext cx="3074035"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4A46"/>
                </a:solidFill>
                <a:latin typeface="Plus Jakarta Sans" pitchFamily="34" charset="0"/>
                <a:ea typeface="Plus Jakarta Sans" pitchFamily="34" charset="-122"/>
                <a:cs typeface="Plus Jakarta Sans" pitchFamily="34" charset="-120"/>
              </a:rPr>
              <a:t>Tamper-proof audit trail</a:t>
            </a:r>
            <a:endParaRPr lang="en-US" sz="1300" dirty="0"/>
          </a:p>
        </p:txBody>
      </p:sp>
      <p:sp>
        <p:nvSpPr>
          <p:cNvPr id="16" name="Shape 14"/>
          <p:cNvSpPr/>
          <p:nvPr/>
        </p:nvSpPr>
        <p:spPr>
          <a:xfrm>
            <a:off x="812800" y="3645297"/>
            <a:ext cx="5194300" cy="1953171"/>
          </a:xfrm>
          <a:prstGeom prst="roundRect">
            <a:avLst>
              <a:gd name="adj" fmla="val 7803"/>
            </a:avLst>
          </a:prstGeom>
          <a:solidFill>
            <a:srgbClr val="0B5D57"/>
          </a:solidFill>
          <a:ln/>
        </p:spPr>
        <p:txBody>
          <a:bodyPr/>
          <a:lstStyle/>
          <a:p>
            <a:endParaRPr lang="en-US"/>
          </a:p>
        </p:txBody>
      </p:sp>
      <p:sp>
        <p:nvSpPr>
          <p:cNvPr id="17" name="Text 15"/>
          <p:cNvSpPr/>
          <p:nvPr/>
        </p:nvSpPr>
        <p:spPr>
          <a:xfrm>
            <a:off x="1016000" y="3848497"/>
            <a:ext cx="493153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8E6C8"/>
                </a:solidFill>
                <a:latin typeface="Plus Jakarta Sans" pitchFamily="34" charset="0"/>
                <a:ea typeface="Plus Jakarta Sans" pitchFamily="34" charset="-122"/>
                <a:cs typeface="Plus Jakarta Sans" pitchFamily="34" charset="-120"/>
              </a:rPr>
              <a:t>ARCHITECTURE</a:t>
            </a:r>
            <a:endParaRPr lang="en-US" sz="1200" dirty="0"/>
          </a:p>
        </p:txBody>
      </p:sp>
      <p:sp>
        <p:nvSpPr>
          <p:cNvPr id="18" name="Shape 16"/>
          <p:cNvSpPr/>
          <p:nvPr/>
        </p:nvSpPr>
        <p:spPr>
          <a:xfrm>
            <a:off x="1016000" y="4188817"/>
            <a:ext cx="947440" cy="408930"/>
          </a:xfrm>
          <a:prstGeom prst="roundRect">
            <a:avLst>
              <a:gd name="adj" fmla="val 18634"/>
            </a:avLst>
          </a:prstGeom>
          <a:solidFill>
            <a:srgbClr val="FFFFFF"/>
          </a:solidFill>
          <a:ln/>
        </p:spPr>
        <p:txBody>
          <a:bodyPr/>
          <a:lstStyle/>
          <a:p>
            <a:endParaRPr lang="en-US"/>
          </a:p>
        </p:txBody>
      </p:sp>
      <p:sp>
        <p:nvSpPr>
          <p:cNvPr id="19" name="Text 17"/>
          <p:cNvSpPr/>
          <p:nvPr/>
        </p:nvSpPr>
        <p:spPr>
          <a:xfrm>
            <a:off x="1143000" y="4277717"/>
            <a:ext cx="7442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3D3A"/>
                </a:solidFill>
                <a:latin typeface="IBM Plex Mono" pitchFamily="34" charset="0"/>
                <a:ea typeface="IBM Plex Mono" pitchFamily="34" charset="-122"/>
                <a:cs typeface="IBM Plex Mono" pitchFamily="34" charset="-120"/>
              </a:rPr>
              <a:t>Web app</a:t>
            </a:r>
            <a:endParaRPr lang="en-US" sz="1300" dirty="0"/>
          </a:p>
        </p:txBody>
      </p:sp>
      <p:sp>
        <p:nvSpPr>
          <p:cNvPr id="20" name="Text 18"/>
          <p:cNvSpPr/>
          <p:nvPr/>
        </p:nvSpPr>
        <p:spPr>
          <a:xfrm>
            <a:off x="2065040" y="4251027"/>
            <a:ext cx="173137"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8E6C8"/>
                </a:solidFill>
                <a:latin typeface="IBM Plex Mono" pitchFamily="34" charset="0"/>
                <a:ea typeface="IBM Plex Mono" pitchFamily="34" charset="-122"/>
                <a:cs typeface="IBM Plex Mono" pitchFamily="34" charset="-120"/>
              </a:rPr>
              <a:t>→</a:t>
            </a:r>
            <a:endParaRPr lang="en-US" sz="1600" dirty="0"/>
          </a:p>
        </p:txBody>
      </p:sp>
      <p:sp>
        <p:nvSpPr>
          <p:cNvPr id="21" name="Shape 19"/>
          <p:cNvSpPr/>
          <p:nvPr/>
        </p:nvSpPr>
        <p:spPr>
          <a:xfrm>
            <a:off x="2288977" y="4188817"/>
            <a:ext cx="1640880" cy="408930"/>
          </a:xfrm>
          <a:prstGeom prst="roundRect">
            <a:avLst>
              <a:gd name="adj" fmla="val 18634"/>
            </a:avLst>
          </a:prstGeom>
          <a:solidFill>
            <a:srgbClr val="FFFFFF"/>
          </a:solidFill>
          <a:ln/>
        </p:spPr>
        <p:txBody>
          <a:bodyPr/>
          <a:lstStyle/>
          <a:p>
            <a:endParaRPr lang="en-US"/>
          </a:p>
        </p:txBody>
      </p:sp>
      <p:sp>
        <p:nvSpPr>
          <p:cNvPr id="22" name="Text 20"/>
          <p:cNvSpPr/>
          <p:nvPr/>
        </p:nvSpPr>
        <p:spPr>
          <a:xfrm>
            <a:off x="2415977" y="4277717"/>
            <a:ext cx="143768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3D3A"/>
                </a:solidFill>
                <a:latin typeface="IBM Plex Mono" pitchFamily="34" charset="0"/>
                <a:ea typeface="IBM Plex Mono" pitchFamily="34" charset="-122"/>
                <a:cs typeface="IBM Plex Mono" pitchFamily="34" charset="-120"/>
              </a:rPr>
              <a:t>Solana program</a:t>
            </a:r>
            <a:endParaRPr lang="en-US" sz="1300" dirty="0"/>
          </a:p>
        </p:txBody>
      </p:sp>
      <p:sp>
        <p:nvSpPr>
          <p:cNvPr id="23" name="Text 21"/>
          <p:cNvSpPr/>
          <p:nvPr/>
        </p:nvSpPr>
        <p:spPr>
          <a:xfrm>
            <a:off x="4031456" y="4251027"/>
            <a:ext cx="173137"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8E6C8"/>
                </a:solidFill>
                <a:latin typeface="IBM Plex Mono" pitchFamily="34" charset="0"/>
                <a:ea typeface="IBM Plex Mono" pitchFamily="34" charset="-122"/>
                <a:cs typeface="IBM Plex Mono" pitchFamily="34" charset="-120"/>
              </a:rPr>
              <a:t>→</a:t>
            </a:r>
            <a:endParaRPr lang="en-US" sz="1600" dirty="0"/>
          </a:p>
        </p:txBody>
      </p:sp>
      <p:sp>
        <p:nvSpPr>
          <p:cNvPr id="24" name="Shape 22"/>
          <p:cNvSpPr/>
          <p:nvPr/>
        </p:nvSpPr>
        <p:spPr>
          <a:xfrm>
            <a:off x="4255393" y="4188817"/>
            <a:ext cx="1442740" cy="408930"/>
          </a:xfrm>
          <a:prstGeom prst="roundRect">
            <a:avLst>
              <a:gd name="adj" fmla="val 18634"/>
            </a:avLst>
          </a:prstGeom>
          <a:solidFill>
            <a:srgbClr val="FFFFFF"/>
          </a:solidFill>
          <a:ln/>
        </p:spPr>
        <p:txBody>
          <a:bodyPr/>
          <a:lstStyle/>
          <a:p>
            <a:endParaRPr lang="en-US"/>
          </a:p>
        </p:txBody>
      </p:sp>
      <p:sp>
        <p:nvSpPr>
          <p:cNvPr id="25" name="Text 23"/>
          <p:cNvSpPr/>
          <p:nvPr/>
        </p:nvSpPr>
        <p:spPr>
          <a:xfrm>
            <a:off x="4382393" y="4277717"/>
            <a:ext cx="12395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3D3A"/>
                </a:solidFill>
                <a:latin typeface="IBM Plex Mono" pitchFamily="34" charset="0"/>
                <a:ea typeface="IBM Plex Mono" pitchFamily="34" charset="-122"/>
                <a:cs typeface="IBM Plex Mono" pitchFamily="34" charset="-120"/>
              </a:rPr>
              <a:t>Pack records</a:t>
            </a:r>
            <a:endParaRPr lang="en-US" sz="1300" dirty="0"/>
          </a:p>
        </p:txBody>
      </p:sp>
      <p:sp>
        <p:nvSpPr>
          <p:cNvPr id="26" name="Text 24"/>
          <p:cNvSpPr/>
          <p:nvPr/>
        </p:nvSpPr>
        <p:spPr>
          <a:xfrm>
            <a:off x="1016000" y="4724747"/>
            <a:ext cx="493153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DEFE8"/>
                </a:solidFill>
                <a:latin typeface="Plus Jakarta Sans" pitchFamily="34" charset="0"/>
                <a:ea typeface="Plus Jakarta Sans" pitchFamily="34" charset="-122"/>
                <a:cs typeface="Plus Jakarta Sans" pitchFamily="34" charset="-120"/>
              </a:rPr>
              <a:t>1 record per box · </a:t>
            </a:r>
            <a:r>
              <a:rPr lang="en-US" sz="1300" b="1" dirty="0">
                <a:solidFill>
                  <a:srgbClr val="DDEFE8"/>
                </a:solidFill>
                <a:latin typeface="Plus Jakarta Sans" pitchFamily="34" charset="0"/>
                <a:ea typeface="Plus Jakarta Sans" pitchFamily="34" charset="-122"/>
                <a:cs typeface="Plus Jakarta Sans" pitchFamily="34" charset="-120"/>
              </a:rPr>
              <a:t>≈ €0.0005 per step</a:t>
            </a:r>
            <a:r>
              <a:rPr lang="en-US" sz="1300" dirty="0">
                <a:solidFill>
                  <a:srgbClr val="DDEFE8"/>
                </a:solidFill>
                <a:latin typeface="Plus Jakarta Sans" pitchFamily="34" charset="0"/>
                <a:ea typeface="Plus Jakarta Sans" pitchFamily="34" charset="-122"/>
                <a:cs typeface="Plus Jakarta Sans" pitchFamily="34" charset="-120"/>
              </a:rPr>
              <a:t> · ≈ €0.0016 per pack all-in</a:t>
            </a:r>
            <a:endParaRPr lang="en-US" sz="1300" dirty="0"/>
          </a:p>
        </p:txBody>
      </p:sp>
      <p:sp>
        <p:nvSpPr>
          <p:cNvPr id="27" name="Shape 25"/>
          <p:cNvSpPr/>
          <p:nvPr/>
        </p:nvSpPr>
        <p:spPr>
          <a:xfrm>
            <a:off x="6184900" y="3645297"/>
            <a:ext cx="5194300" cy="1953171"/>
          </a:xfrm>
          <a:prstGeom prst="roundRect">
            <a:avLst>
              <a:gd name="adj" fmla="val 7803"/>
            </a:avLst>
          </a:prstGeom>
          <a:solidFill>
            <a:srgbClr val="E3EFEC"/>
          </a:solidFill>
          <a:ln/>
        </p:spPr>
        <p:txBody>
          <a:bodyPr/>
          <a:lstStyle/>
          <a:p>
            <a:endParaRPr lang="en-US"/>
          </a:p>
        </p:txBody>
      </p:sp>
      <p:sp>
        <p:nvSpPr>
          <p:cNvPr id="28" name="Text 26"/>
          <p:cNvSpPr/>
          <p:nvPr/>
        </p:nvSpPr>
        <p:spPr>
          <a:xfrm>
            <a:off x="6388100" y="3848497"/>
            <a:ext cx="493153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5D57"/>
                </a:solidFill>
                <a:latin typeface="Plus Jakarta Sans" pitchFamily="34" charset="0"/>
                <a:ea typeface="Plus Jakarta Sans" pitchFamily="34" charset="-122"/>
                <a:cs typeface="Plus Jakarta Sans" pitchFamily="34" charset="-120"/>
              </a:rPr>
              <a:t>WHY NOT A DATABASE?</a:t>
            </a:r>
            <a:endParaRPr lang="en-US" sz="1200" dirty="0"/>
          </a:p>
        </p:txBody>
      </p:sp>
      <p:sp>
        <p:nvSpPr>
          <p:cNvPr id="29" name="Text 27"/>
          <p:cNvSpPr/>
          <p:nvPr/>
        </p:nvSpPr>
        <p:spPr>
          <a:xfrm>
            <a:off x="6388100" y="4150717"/>
            <a:ext cx="4931537"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Manufacturers, distributors, pharmacies and the regulator don't trust each other — and some counterfeiters </a:t>
            </a:r>
            <a:r>
              <a:rPr lang="en-US" sz="1300" i="1" dirty="0">
                <a:solidFill>
                  <a:srgbClr val="12201E"/>
                </a:solidFill>
                <a:latin typeface="Plus Jakarta Sans" pitchFamily="34" charset="0"/>
                <a:ea typeface="Plus Jakarta Sans" pitchFamily="34" charset="-122"/>
                <a:cs typeface="Plus Jakarta Sans" pitchFamily="34" charset="-120"/>
              </a:rPr>
              <a:t>are</a:t>
            </a:r>
            <a:r>
              <a:rPr lang="en-US" sz="1300" dirty="0">
                <a:solidFill>
                  <a:srgbClr val="12201E"/>
                </a:solidFill>
                <a:latin typeface="Plus Jakarta Sans" pitchFamily="34" charset="0"/>
                <a:ea typeface="Plus Jakarta Sans" pitchFamily="34" charset="-122"/>
                <a:cs typeface="Plus Jakarta Sans" pitchFamily="34" charset="-120"/>
              </a:rPr>
              <a:t> manufacturers.</a:t>
            </a:r>
            <a:endParaRPr lang="en-US" sz="1300" dirty="0"/>
          </a:p>
        </p:txBody>
      </p:sp>
      <p:sp>
        <p:nvSpPr>
          <p:cNvPr id="30" name="Text 28"/>
          <p:cNvSpPr/>
          <p:nvPr/>
        </p:nvSpPr>
        <p:spPr>
          <a:xfrm>
            <a:off x="6388100" y="4933007"/>
            <a:ext cx="4931537"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5D57"/>
                </a:solidFill>
                <a:latin typeface="Plus Jakarta Sans" pitchFamily="34" charset="0"/>
                <a:ea typeface="Plus Jakarta Sans" pitchFamily="34" charset="-122"/>
                <a:cs typeface="Plus Jakarta Sans" pitchFamily="34" charset="-120"/>
              </a:rPr>
              <a:t>“Who runs the gate?”</a:t>
            </a:r>
            <a:r>
              <a:rPr lang="en-US" sz="1300" dirty="0">
                <a:solidFill>
                  <a:srgbClr val="0B5D57"/>
                </a:solidFill>
                <a:latin typeface="Plus Jakarta Sans" pitchFamily="34" charset="0"/>
                <a:ea typeface="Plus Jakarta Sans" pitchFamily="34" charset="-122"/>
                <a:cs typeface="Plus Jakarta Sans" pitchFamily="34" charset="-120"/>
              </a:rPr>
              <a:t> In Ireland, trusted institutions do. In Bangladesh, no one is trusted by everyone.</a:t>
            </a:r>
            <a:endParaRPr lang="en-US" sz="1300" dirty="0"/>
          </a:p>
        </p:txBody>
      </p:sp>
      <p:sp>
        <p:nvSpPr>
          <p:cNvPr id="31" name="Text 29"/>
          <p:cNvSpPr/>
          <p:nvPr/>
        </p:nvSpPr>
        <p:spPr>
          <a:xfrm>
            <a:off x="11173718" y="6238280"/>
            <a:ext cx="25628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5D57"/>
                </a:solidFill>
                <a:latin typeface="Plus Jakarta Sans" pitchFamily="34" charset="0"/>
                <a:ea typeface="Plus Jakarta Sans" pitchFamily="34" charset="-122"/>
                <a:cs typeface="Plus Jakarta Sans" pitchFamily="34" charset="-120"/>
              </a:rPr>
              <a:t>EXECUTION FLOW · ON SOLANA</a:t>
            </a:r>
            <a:endParaRPr lang="en-US" sz="1200" dirty="0"/>
          </a:p>
        </p:txBody>
      </p:sp>
      <p:sp>
        <p:nvSpPr>
          <p:cNvPr id="3" name="Text 1"/>
          <p:cNvSpPr/>
          <p:nvPr/>
        </p:nvSpPr>
        <p:spPr>
          <a:xfrm>
            <a:off x="812800" y="1026120"/>
            <a:ext cx="10883392" cy="430758"/>
          </a:xfrm>
          <a:prstGeom prst="rect">
            <a:avLst/>
          </a:prstGeom>
          <a:noFill/>
          <a:ln/>
        </p:spPr>
        <p:txBody>
          <a:bodyPr wrap="square" lIns="0" tIns="0" rIns="0" bIns="0" rtlCol="0" anchor="t">
            <a:normAutofit/>
          </a:bodyPr>
          <a:lstStyle/>
          <a:p>
            <a:pPr marL="0" indent="0" algn="l">
              <a:lnSpc>
                <a:spcPts val="3192"/>
              </a:lnSpc>
              <a:buNone/>
            </a:pPr>
            <a:r>
              <a:rPr lang="en-US" sz="2800" b="1" kern="0" spc="-50" dirty="0">
                <a:solidFill>
                  <a:srgbClr val="12201E"/>
                </a:solidFill>
                <a:latin typeface="Plus Jakarta Sans" pitchFamily="34" charset="0"/>
                <a:ea typeface="Plus Jakarta Sans" pitchFamily="34" charset="-122"/>
                <a:cs typeface="Plus Jakarta Sans" pitchFamily="34" charset="-120"/>
              </a:rPr>
              <a:t>Each handover is a Solana transaction signed by the holder</a:t>
            </a:r>
            <a:endParaRPr lang="en-US" sz="2800" dirty="0"/>
          </a:p>
        </p:txBody>
      </p:sp>
      <p:pic>
        <p:nvPicPr>
          <p:cNvPr id="4" name="Image 0" descr="Pack lifecycle: mint_pack creates the pack for the manufacturer; transfer_custody signed by the manufacturer moves it to the distributor, then signed by the distributor to the pharmacy; dispense, once by the pharmacy, marks it Dispensed for the patient. Rejected paths: NotHolder when someone else signs, InvalidStatus when transferring onward from a pharmacy, AlreadyDispensed when dispensing the same pack again."/>
          <p:cNvPicPr>
            <a:picLocks noChangeAspect="1"/>
          </p:cNvPicPr>
          <p:nvPr/>
        </p:nvPicPr>
        <p:blipFill>
          <a:blip r:embed="rId3"/>
          <a:srcRect l="-20" r="-20"/>
          <a:stretch/>
        </p:blipFill>
        <p:spPr>
          <a:xfrm>
            <a:off x="812800" y="1685479"/>
            <a:ext cx="10566400" cy="3048000"/>
          </a:xfrm>
          <a:prstGeom prst="rect">
            <a:avLst/>
          </a:prstGeom>
        </p:spPr>
      </p:pic>
      <p:sp>
        <p:nvSpPr>
          <p:cNvPr id="5" name="Shape 2"/>
          <p:cNvSpPr/>
          <p:nvPr/>
        </p:nvSpPr>
        <p:spPr>
          <a:xfrm>
            <a:off x="812800" y="4987479"/>
            <a:ext cx="10566400" cy="595610"/>
          </a:xfrm>
          <a:prstGeom prst="roundRect">
            <a:avLst>
              <a:gd name="adj" fmla="val 25587"/>
            </a:avLst>
          </a:prstGeom>
          <a:solidFill>
            <a:srgbClr val="E3EFEC"/>
          </a:solidFill>
          <a:ln/>
        </p:spPr>
        <p:txBody>
          <a:bodyPr/>
          <a:lstStyle/>
          <a:p>
            <a:endParaRPr lang="en-US"/>
          </a:p>
        </p:txBody>
      </p:sp>
      <p:sp>
        <p:nvSpPr>
          <p:cNvPr id="6" name="Text 3"/>
          <p:cNvSpPr/>
          <p:nvPr/>
        </p:nvSpPr>
        <p:spPr>
          <a:xfrm>
            <a:off x="1066800" y="5178623"/>
            <a:ext cx="148778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5D57"/>
                </a:solidFill>
                <a:latin typeface="Plus Jakarta Sans" pitchFamily="34" charset="0"/>
                <a:ea typeface="Plus Jakarta Sans" pitchFamily="34" charset="-122"/>
                <a:cs typeface="Plus Jakarta Sans" pitchFamily="34" charset="-120"/>
              </a:rPr>
              <a:t>ONE-WAY DOOR</a:t>
            </a:r>
            <a:endParaRPr lang="en-US" sz="1200" dirty="0"/>
          </a:p>
        </p:txBody>
      </p:sp>
      <p:sp>
        <p:nvSpPr>
          <p:cNvPr id="7" name="Text 4"/>
          <p:cNvSpPr/>
          <p:nvPr/>
        </p:nvSpPr>
        <p:spPr>
          <a:xfrm>
            <a:off x="2681585" y="5165279"/>
            <a:ext cx="8528148"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2201E"/>
                </a:solidFill>
                <a:latin typeface="Plus Jakarta Sans" pitchFamily="34" charset="0"/>
                <a:ea typeface="Plus Jakarta Sans" pitchFamily="34" charset="-122"/>
                <a:cs typeface="Plus Jakarta Sans" pitchFamily="34" charset="-120"/>
              </a:rPr>
              <a:t>dispense</a:t>
            </a:r>
            <a:r>
              <a:rPr lang="en-US" sz="1400" dirty="0">
                <a:solidFill>
                  <a:srgbClr val="12201E"/>
                </a:solidFill>
                <a:latin typeface="Plus Jakarta Sans" pitchFamily="34" charset="0"/>
                <a:ea typeface="Plus Jakarta Sans" pitchFamily="34" charset="-122"/>
                <a:cs typeface="Plus Jakarta Sans" pitchFamily="34" charset="-120"/>
              </a:rPr>
              <a:t> is the only way into </a:t>
            </a:r>
            <a:r>
              <a:rPr lang="en-US" sz="1400" b="1" dirty="0">
                <a:solidFill>
                  <a:srgbClr val="12201E"/>
                </a:solidFill>
                <a:latin typeface="Plus Jakarta Sans" pitchFamily="34" charset="0"/>
                <a:ea typeface="Plus Jakarta Sans" pitchFamily="34" charset="-122"/>
                <a:cs typeface="Plus Jakarta Sans" pitchFamily="34" charset="-120"/>
              </a:rPr>
              <a:t>Dispensed</a:t>
            </a:r>
            <a:r>
              <a:rPr lang="en-US" sz="1400" dirty="0">
                <a:solidFill>
                  <a:srgbClr val="12201E"/>
                </a:solidFill>
                <a:latin typeface="Plus Jakarta Sans" pitchFamily="34" charset="0"/>
                <a:ea typeface="Plus Jakarta Sans" pitchFamily="34" charset="-122"/>
                <a:cs typeface="Plus Jakarta Sans" pitchFamily="34" charset="-120"/>
              </a:rPr>
              <a:t>, and nothing leaves it. That's the wall a copied QR code hits.</a:t>
            </a:r>
            <a:endParaRPr lang="en-US" sz="1400" dirty="0"/>
          </a:p>
        </p:txBody>
      </p:sp>
      <p:sp>
        <p:nvSpPr>
          <p:cNvPr id="8" name="Text 5"/>
          <p:cNvSpPr/>
          <p:nvPr/>
        </p:nvSpPr>
        <p:spPr>
          <a:xfrm>
            <a:off x="812800" y="6238280"/>
            <a:ext cx="60883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Red paths are rejected by the program itself. No server or admin can override them.</a:t>
            </a:r>
            <a:endParaRPr lang="en-US" sz="1200" dirty="0"/>
          </a:p>
        </p:txBody>
      </p:sp>
      <p:sp>
        <p:nvSpPr>
          <p:cNvPr id="9" name="Text 6"/>
          <p:cNvSpPr/>
          <p:nvPr/>
        </p:nvSpPr>
        <p:spPr>
          <a:xfrm>
            <a:off x="11176645" y="6238280"/>
            <a:ext cx="25335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5D57"/>
                </a:solidFill>
                <a:latin typeface="Plus Jakarta Sans" pitchFamily="34" charset="0"/>
                <a:ea typeface="Plus Jakarta Sans" pitchFamily="34" charset="-122"/>
                <a:cs typeface="Plus Jakarta Sans" pitchFamily="34" charset="-120"/>
              </a:rPr>
              <a:t>LIVE DEMO</a:t>
            </a:r>
            <a:endParaRPr lang="en-US" sz="1200" dirty="0"/>
          </a:p>
        </p:txBody>
      </p:sp>
      <p:sp>
        <p:nvSpPr>
          <p:cNvPr id="3" name="Text 1"/>
          <p:cNvSpPr/>
          <p:nvPr/>
        </p:nvSpPr>
        <p:spPr>
          <a:xfrm>
            <a:off x="812800" y="1026120"/>
            <a:ext cx="10883392" cy="452090"/>
          </a:xfrm>
          <a:prstGeom prst="rect">
            <a:avLst/>
          </a:prstGeom>
          <a:noFill/>
          <a:ln/>
        </p:spPr>
        <p:txBody>
          <a:bodyPr wrap="square" lIns="0" tIns="0" rIns="0" bIns="0" rtlCol="0" anchor="t">
            <a:normAutofit/>
          </a:bodyPr>
          <a:lstStyle/>
          <a:p>
            <a:pPr marL="0" indent="0" algn="l">
              <a:lnSpc>
                <a:spcPts val="3360"/>
              </a:lnSpc>
              <a:buNone/>
            </a:pPr>
            <a:r>
              <a:rPr lang="en-US" sz="3000" b="1" kern="0" spc="-50" dirty="0">
                <a:solidFill>
                  <a:srgbClr val="12201E"/>
                </a:solidFill>
                <a:latin typeface="Plus Jakarta Sans" pitchFamily="34" charset="0"/>
                <a:ea typeface="Plus Jakarta Sans" pitchFamily="34" charset="-122"/>
                <a:cs typeface="Plus Jakarta Sans" pitchFamily="34" charset="-120"/>
              </a:rPr>
              <a:t>The genuine pack gets in, the photocopy bounces</a:t>
            </a:r>
            <a:endParaRPr lang="en-US" sz="3000" dirty="0"/>
          </a:p>
        </p:txBody>
      </p:sp>
      <p:sp>
        <p:nvSpPr>
          <p:cNvPr id="4" name="Shape 2"/>
          <p:cNvSpPr/>
          <p:nvPr/>
        </p:nvSpPr>
        <p:spPr>
          <a:xfrm>
            <a:off x="812800" y="1681411"/>
            <a:ext cx="968177" cy="358130"/>
          </a:xfrm>
          <a:prstGeom prst="roundRect">
            <a:avLst>
              <a:gd name="adj" fmla="val 50000"/>
            </a:avLst>
          </a:prstGeom>
          <a:solidFill>
            <a:srgbClr val="E3EFEC"/>
          </a:solidFill>
          <a:ln/>
        </p:spPr>
        <p:txBody>
          <a:bodyPr/>
          <a:lstStyle/>
          <a:p>
            <a:endParaRPr lang="en-US"/>
          </a:p>
        </p:txBody>
      </p:sp>
      <p:sp>
        <p:nvSpPr>
          <p:cNvPr id="5" name="Text 3"/>
          <p:cNvSpPr/>
          <p:nvPr/>
        </p:nvSpPr>
        <p:spPr>
          <a:xfrm>
            <a:off x="965200" y="1744911"/>
            <a:ext cx="714177"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1E"/>
                </a:solidFill>
                <a:latin typeface="Plus Jakarta Sans" pitchFamily="34" charset="0"/>
                <a:ea typeface="Plus Jakarta Sans" pitchFamily="34" charset="-122"/>
                <a:cs typeface="Plus Jakarta Sans" pitchFamily="34" charset="-120"/>
              </a:rPr>
              <a:t>Register</a:t>
            </a:r>
            <a:endParaRPr lang="en-US" sz="1300" dirty="0"/>
          </a:p>
        </p:txBody>
      </p:sp>
      <p:sp>
        <p:nvSpPr>
          <p:cNvPr id="6" name="Text 4"/>
          <p:cNvSpPr/>
          <p:nvPr/>
        </p:nvSpPr>
        <p:spPr>
          <a:xfrm>
            <a:off x="1869877" y="1736030"/>
            <a:ext cx="2286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5D57"/>
                </a:solidFill>
                <a:latin typeface="Plus Jakarta Sans" pitchFamily="34" charset="0"/>
                <a:ea typeface="Plus Jakarta Sans" pitchFamily="34" charset="-122"/>
                <a:cs typeface="Plus Jakarta Sans" pitchFamily="34" charset="-120"/>
              </a:rPr>
              <a:t>→</a:t>
            </a:r>
            <a:endParaRPr lang="en-US" sz="1400" dirty="0"/>
          </a:p>
        </p:txBody>
      </p:sp>
      <p:sp>
        <p:nvSpPr>
          <p:cNvPr id="7" name="Shape 5"/>
          <p:cNvSpPr/>
          <p:nvPr/>
        </p:nvSpPr>
        <p:spPr>
          <a:xfrm>
            <a:off x="2136577" y="1681411"/>
            <a:ext cx="993874" cy="358130"/>
          </a:xfrm>
          <a:prstGeom prst="roundRect">
            <a:avLst>
              <a:gd name="adj" fmla="val 50000"/>
            </a:avLst>
          </a:prstGeom>
          <a:solidFill>
            <a:srgbClr val="E3EFEC"/>
          </a:solidFill>
          <a:ln/>
        </p:spPr>
        <p:txBody>
          <a:bodyPr/>
          <a:lstStyle/>
          <a:p>
            <a:endParaRPr lang="en-US"/>
          </a:p>
        </p:txBody>
      </p:sp>
      <p:sp>
        <p:nvSpPr>
          <p:cNvPr id="8" name="Text 6"/>
          <p:cNvSpPr/>
          <p:nvPr/>
        </p:nvSpPr>
        <p:spPr>
          <a:xfrm>
            <a:off x="2288977" y="1744911"/>
            <a:ext cx="739874"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1E"/>
                </a:solidFill>
                <a:latin typeface="Plus Jakarta Sans" pitchFamily="34" charset="0"/>
                <a:ea typeface="Plus Jakarta Sans" pitchFamily="34" charset="-122"/>
                <a:cs typeface="Plus Jakarta Sans" pitchFamily="34" charset="-120"/>
              </a:rPr>
              <a:t>Hand off</a:t>
            </a:r>
            <a:endParaRPr lang="en-US" sz="1300" dirty="0"/>
          </a:p>
        </p:txBody>
      </p:sp>
      <p:sp>
        <p:nvSpPr>
          <p:cNvPr id="9" name="Text 7"/>
          <p:cNvSpPr/>
          <p:nvPr/>
        </p:nvSpPr>
        <p:spPr>
          <a:xfrm>
            <a:off x="3219351" y="1736030"/>
            <a:ext cx="2286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5D57"/>
                </a:solidFill>
                <a:latin typeface="Plus Jakarta Sans" pitchFamily="34" charset="0"/>
                <a:ea typeface="Plus Jakarta Sans" pitchFamily="34" charset="-122"/>
                <a:cs typeface="Plus Jakarta Sans" pitchFamily="34" charset="-120"/>
              </a:rPr>
              <a:t>→</a:t>
            </a:r>
            <a:endParaRPr lang="en-US" sz="1400" dirty="0"/>
          </a:p>
        </p:txBody>
      </p:sp>
      <p:sp>
        <p:nvSpPr>
          <p:cNvPr id="10" name="Shape 8"/>
          <p:cNvSpPr/>
          <p:nvPr/>
        </p:nvSpPr>
        <p:spPr>
          <a:xfrm>
            <a:off x="3486051" y="1681411"/>
            <a:ext cx="1046311" cy="358130"/>
          </a:xfrm>
          <a:prstGeom prst="roundRect">
            <a:avLst>
              <a:gd name="adj" fmla="val 50000"/>
            </a:avLst>
          </a:prstGeom>
          <a:solidFill>
            <a:srgbClr val="0B5D57"/>
          </a:solidFill>
          <a:ln/>
        </p:spPr>
        <p:txBody>
          <a:bodyPr/>
          <a:lstStyle/>
          <a:p>
            <a:endParaRPr lang="en-US"/>
          </a:p>
        </p:txBody>
      </p:sp>
      <p:sp>
        <p:nvSpPr>
          <p:cNvPr id="11" name="Text 9"/>
          <p:cNvSpPr/>
          <p:nvPr/>
        </p:nvSpPr>
        <p:spPr>
          <a:xfrm>
            <a:off x="3638451" y="1744911"/>
            <a:ext cx="792311"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FFF"/>
                </a:solidFill>
                <a:latin typeface="Plus Jakarta Sans" pitchFamily="34" charset="0"/>
                <a:ea typeface="Plus Jakarta Sans" pitchFamily="34" charset="-122"/>
                <a:cs typeface="Plus Jakarta Sans" pitchFamily="34" charset="-120"/>
              </a:rPr>
              <a:t>Dispense</a:t>
            </a:r>
            <a:endParaRPr lang="en-US" sz="1300" dirty="0"/>
          </a:p>
        </p:txBody>
      </p:sp>
      <p:sp>
        <p:nvSpPr>
          <p:cNvPr id="12" name="Text 10"/>
          <p:cNvSpPr/>
          <p:nvPr/>
        </p:nvSpPr>
        <p:spPr>
          <a:xfrm>
            <a:off x="4621262" y="1736030"/>
            <a:ext cx="2286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5D57"/>
                </a:solidFill>
                <a:latin typeface="Plus Jakarta Sans" pitchFamily="34" charset="0"/>
                <a:ea typeface="Plus Jakarta Sans" pitchFamily="34" charset="-122"/>
                <a:cs typeface="Plus Jakarta Sans" pitchFamily="34" charset="-120"/>
              </a:rPr>
              <a:t>→</a:t>
            </a:r>
            <a:endParaRPr lang="en-US" sz="1400" dirty="0"/>
          </a:p>
        </p:txBody>
      </p:sp>
      <p:sp>
        <p:nvSpPr>
          <p:cNvPr id="13" name="Shape 11"/>
          <p:cNvSpPr/>
          <p:nvPr/>
        </p:nvSpPr>
        <p:spPr>
          <a:xfrm>
            <a:off x="4887962" y="1681411"/>
            <a:ext cx="1551037" cy="358130"/>
          </a:xfrm>
          <a:prstGeom prst="roundRect">
            <a:avLst>
              <a:gd name="adj" fmla="val 50000"/>
            </a:avLst>
          </a:prstGeom>
          <a:solidFill>
            <a:srgbClr val="E3F4EA"/>
          </a:solidFill>
          <a:ln/>
        </p:spPr>
        <p:txBody>
          <a:bodyPr/>
          <a:lstStyle/>
          <a:p>
            <a:endParaRPr lang="en-US"/>
          </a:p>
        </p:txBody>
      </p:sp>
      <p:sp>
        <p:nvSpPr>
          <p:cNvPr id="14" name="Text 12"/>
          <p:cNvSpPr/>
          <p:nvPr/>
        </p:nvSpPr>
        <p:spPr>
          <a:xfrm>
            <a:off x="5040362" y="1744911"/>
            <a:ext cx="1297037"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57F4F"/>
                </a:solidFill>
                <a:latin typeface="Plus Jakarta Sans" pitchFamily="34" charset="0"/>
                <a:ea typeface="Plus Jakarta Sans" pitchFamily="34" charset="-122"/>
                <a:cs typeface="Plus Jakarta Sans" pitchFamily="34" charset="-120"/>
              </a:rPr>
              <a:t>Scan genuine ✓</a:t>
            </a:r>
            <a:endParaRPr lang="en-US" sz="1300" dirty="0"/>
          </a:p>
        </p:txBody>
      </p:sp>
      <p:sp>
        <p:nvSpPr>
          <p:cNvPr id="15" name="Text 13"/>
          <p:cNvSpPr/>
          <p:nvPr/>
        </p:nvSpPr>
        <p:spPr>
          <a:xfrm>
            <a:off x="6527899" y="1736030"/>
            <a:ext cx="2286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5D57"/>
                </a:solidFill>
                <a:latin typeface="Plus Jakarta Sans" pitchFamily="34" charset="0"/>
                <a:ea typeface="Plus Jakarta Sans" pitchFamily="34" charset="-122"/>
                <a:cs typeface="Plus Jakarta Sans" pitchFamily="34" charset="-120"/>
              </a:rPr>
              <a:t>→</a:t>
            </a:r>
            <a:endParaRPr lang="en-US" sz="1400" dirty="0"/>
          </a:p>
        </p:txBody>
      </p:sp>
      <p:sp>
        <p:nvSpPr>
          <p:cNvPr id="16" name="Shape 14"/>
          <p:cNvSpPr/>
          <p:nvPr/>
        </p:nvSpPr>
        <p:spPr>
          <a:xfrm>
            <a:off x="6794599" y="1681411"/>
            <a:ext cx="1332508" cy="358130"/>
          </a:xfrm>
          <a:prstGeom prst="roundRect">
            <a:avLst>
              <a:gd name="adj" fmla="val 50000"/>
            </a:avLst>
          </a:prstGeom>
          <a:solidFill>
            <a:srgbClr val="FBE9DF"/>
          </a:solidFill>
          <a:ln/>
        </p:spPr>
        <p:txBody>
          <a:bodyPr/>
          <a:lstStyle/>
          <a:p>
            <a:endParaRPr lang="en-US"/>
          </a:p>
        </p:txBody>
      </p:sp>
      <p:sp>
        <p:nvSpPr>
          <p:cNvPr id="17" name="Text 15"/>
          <p:cNvSpPr/>
          <p:nvPr/>
        </p:nvSpPr>
        <p:spPr>
          <a:xfrm>
            <a:off x="6946999" y="1744911"/>
            <a:ext cx="1078508"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93E0A"/>
                </a:solidFill>
                <a:latin typeface="Plus Jakarta Sans" pitchFamily="34" charset="0"/>
                <a:ea typeface="Plus Jakarta Sans" pitchFamily="34" charset="-122"/>
                <a:cs typeface="Plus Jakarta Sans" pitchFamily="34" charset="-120"/>
              </a:rPr>
              <a:t>Scan clone ✕</a:t>
            </a:r>
            <a:endParaRPr lang="en-US" sz="1300" dirty="0"/>
          </a:p>
        </p:txBody>
      </p:sp>
      <p:sp>
        <p:nvSpPr>
          <p:cNvPr id="18" name="Shape 16"/>
          <p:cNvSpPr/>
          <p:nvPr/>
        </p:nvSpPr>
        <p:spPr>
          <a:xfrm>
            <a:off x="812800" y="2268141"/>
            <a:ext cx="2032000" cy="2921000"/>
          </a:xfrm>
          <a:prstGeom prst="roundRect">
            <a:avLst>
              <a:gd name="adj" fmla="val 16250"/>
            </a:avLst>
          </a:prstGeom>
          <a:solidFill>
            <a:srgbClr val="12201E"/>
          </a:solidFill>
          <a:ln/>
        </p:spPr>
        <p:txBody>
          <a:bodyPr/>
          <a:lstStyle/>
          <a:p>
            <a:endParaRPr lang="en-US"/>
          </a:p>
        </p:txBody>
      </p:sp>
      <p:sp>
        <p:nvSpPr>
          <p:cNvPr id="19" name="Shape 17"/>
          <p:cNvSpPr/>
          <p:nvPr/>
        </p:nvSpPr>
        <p:spPr>
          <a:xfrm>
            <a:off x="914400" y="2369741"/>
            <a:ext cx="1828800" cy="2717800"/>
          </a:xfrm>
          <a:prstGeom prst="roundRect">
            <a:avLst>
              <a:gd name="adj" fmla="val 13194"/>
            </a:avLst>
          </a:prstGeom>
          <a:solidFill>
            <a:srgbClr val="FFFFFF"/>
          </a:solidFill>
          <a:ln/>
        </p:spPr>
        <p:txBody>
          <a:bodyPr/>
          <a:lstStyle/>
          <a:p>
            <a:endParaRPr lang="en-US"/>
          </a:p>
        </p:txBody>
      </p:sp>
      <p:sp>
        <p:nvSpPr>
          <p:cNvPr id="20" name="Shape 18"/>
          <p:cNvSpPr/>
          <p:nvPr/>
        </p:nvSpPr>
        <p:spPr>
          <a:xfrm>
            <a:off x="1384300" y="2672060"/>
            <a:ext cx="889000" cy="889000"/>
          </a:xfrm>
          <a:prstGeom prst="roundRect">
            <a:avLst>
              <a:gd name="adj" fmla="val 50000"/>
            </a:avLst>
          </a:prstGeom>
          <a:solidFill>
            <a:srgbClr val="E3F4EA"/>
          </a:solidFill>
          <a:ln/>
        </p:spPr>
        <p:txBody>
          <a:bodyPr/>
          <a:lstStyle/>
          <a:p>
            <a:endParaRPr lang="en-US"/>
          </a:p>
        </p:txBody>
      </p:sp>
      <p:sp>
        <p:nvSpPr>
          <p:cNvPr id="21" name="Text 19"/>
          <p:cNvSpPr/>
          <p:nvPr/>
        </p:nvSpPr>
        <p:spPr>
          <a:xfrm>
            <a:off x="1581894" y="2849860"/>
            <a:ext cx="544612" cy="558800"/>
          </a:xfrm>
          <a:prstGeom prst="rect">
            <a:avLst/>
          </a:prstGeom>
          <a:noFill/>
          <a:ln/>
        </p:spPr>
        <p:txBody>
          <a:bodyPr wrap="square" lIns="0" tIns="0" rIns="0" bIns="0" rtlCol="0" anchor="t">
            <a:normAutofit/>
          </a:bodyPr>
          <a:lstStyle/>
          <a:p>
            <a:pPr marL="0" indent="0" algn="l">
              <a:lnSpc>
                <a:spcPts val="4200"/>
              </a:lnSpc>
              <a:buNone/>
            </a:pPr>
            <a:r>
              <a:rPr lang="en-US" sz="4200" b="1" dirty="0">
                <a:solidFill>
                  <a:srgbClr val="157F4F"/>
                </a:solidFill>
                <a:latin typeface="Plus Jakarta Sans" pitchFamily="34" charset="0"/>
                <a:ea typeface="Plus Jakarta Sans" pitchFamily="34" charset="-122"/>
                <a:cs typeface="Plus Jakarta Sans" pitchFamily="34" charset="-120"/>
              </a:rPr>
              <a:t>✓</a:t>
            </a:r>
            <a:endParaRPr lang="en-US" sz="4200" dirty="0"/>
          </a:p>
        </p:txBody>
      </p:sp>
      <p:sp>
        <p:nvSpPr>
          <p:cNvPr id="22" name="Text 20"/>
          <p:cNvSpPr/>
          <p:nvPr/>
        </p:nvSpPr>
        <p:spPr>
          <a:xfrm>
            <a:off x="1310233" y="3675360"/>
            <a:ext cx="1087884"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57F4F"/>
                </a:solidFill>
                <a:latin typeface="Plus Jakarta Sans" pitchFamily="34" charset="0"/>
                <a:ea typeface="Plus Jakarta Sans" pitchFamily="34" charset="-122"/>
                <a:cs typeface="Plus Jakarta Sans" pitchFamily="34" charset="-120"/>
              </a:rPr>
              <a:t>Genuine</a:t>
            </a:r>
            <a:endParaRPr lang="en-US" sz="2000" dirty="0"/>
          </a:p>
        </p:txBody>
      </p:sp>
      <p:sp>
        <p:nvSpPr>
          <p:cNvPr id="23" name="Text 21"/>
          <p:cNvSpPr/>
          <p:nvPr/>
        </p:nvSpPr>
        <p:spPr>
          <a:xfrm>
            <a:off x="1066800" y="4145260"/>
            <a:ext cx="1524000" cy="66536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Amoxicillin 500 mg</a:t>
            </a:r>
            <a:endParaRPr lang="en-US" sz="1200" dirty="0"/>
          </a:p>
          <a:p>
            <a:pPr marL="0" indent="0" algn="ctr">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Batch AMX2609A · Exp 08/2028</a:t>
            </a:r>
            <a:endParaRPr lang="en-US" sz="1200" dirty="0"/>
          </a:p>
        </p:txBody>
      </p:sp>
      <p:sp>
        <p:nvSpPr>
          <p:cNvPr id="24" name="Shape 22"/>
          <p:cNvSpPr/>
          <p:nvPr/>
        </p:nvSpPr>
        <p:spPr>
          <a:xfrm>
            <a:off x="3149600" y="2268141"/>
            <a:ext cx="2032000" cy="2921000"/>
          </a:xfrm>
          <a:prstGeom prst="roundRect">
            <a:avLst>
              <a:gd name="adj" fmla="val 16250"/>
            </a:avLst>
          </a:prstGeom>
          <a:solidFill>
            <a:srgbClr val="12201E"/>
          </a:solidFill>
          <a:ln/>
        </p:spPr>
        <p:txBody>
          <a:bodyPr/>
          <a:lstStyle/>
          <a:p>
            <a:endParaRPr lang="en-US"/>
          </a:p>
        </p:txBody>
      </p:sp>
      <p:sp>
        <p:nvSpPr>
          <p:cNvPr id="25" name="Shape 23"/>
          <p:cNvSpPr/>
          <p:nvPr/>
        </p:nvSpPr>
        <p:spPr>
          <a:xfrm>
            <a:off x="3251200" y="2369741"/>
            <a:ext cx="1828800" cy="2717800"/>
          </a:xfrm>
          <a:prstGeom prst="roundRect">
            <a:avLst>
              <a:gd name="adj" fmla="val 13194"/>
            </a:avLst>
          </a:prstGeom>
          <a:solidFill>
            <a:srgbClr val="FFFFFF"/>
          </a:solidFill>
          <a:ln/>
        </p:spPr>
        <p:txBody>
          <a:bodyPr/>
          <a:lstStyle/>
          <a:p>
            <a:endParaRPr lang="en-US"/>
          </a:p>
        </p:txBody>
      </p:sp>
      <p:sp>
        <p:nvSpPr>
          <p:cNvPr id="26" name="Shape 24"/>
          <p:cNvSpPr/>
          <p:nvPr/>
        </p:nvSpPr>
        <p:spPr>
          <a:xfrm>
            <a:off x="3721100" y="2796480"/>
            <a:ext cx="889000" cy="889000"/>
          </a:xfrm>
          <a:prstGeom prst="roundRect">
            <a:avLst>
              <a:gd name="adj" fmla="val 50000"/>
            </a:avLst>
          </a:prstGeom>
          <a:solidFill>
            <a:srgbClr val="FBE9DF"/>
          </a:solidFill>
          <a:ln/>
        </p:spPr>
        <p:txBody>
          <a:bodyPr/>
          <a:lstStyle/>
          <a:p>
            <a:endParaRPr lang="en-US"/>
          </a:p>
        </p:txBody>
      </p:sp>
      <p:sp>
        <p:nvSpPr>
          <p:cNvPr id="27" name="Text 25"/>
          <p:cNvSpPr/>
          <p:nvPr/>
        </p:nvSpPr>
        <p:spPr>
          <a:xfrm>
            <a:off x="3962301" y="2974280"/>
            <a:ext cx="457398" cy="558800"/>
          </a:xfrm>
          <a:prstGeom prst="rect">
            <a:avLst/>
          </a:prstGeom>
          <a:noFill/>
          <a:ln/>
        </p:spPr>
        <p:txBody>
          <a:bodyPr wrap="square" lIns="0" tIns="0" rIns="0" bIns="0" rtlCol="0" anchor="t">
            <a:normAutofit/>
          </a:bodyPr>
          <a:lstStyle/>
          <a:p>
            <a:pPr marL="0" indent="0" algn="l">
              <a:lnSpc>
                <a:spcPts val="4200"/>
              </a:lnSpc>
              <a:buNone/>
            </a:pPr>
            <a:r>
              <a:rPr lang="en-US" sz="4200" b="1" dirty="0">
                <a:solidFill>
                  <a:srgbClr val="B93E0A"/>
                </a:solidFill>
                <a:latin typeface="Plus Jakarta Sans" pitchFamily="34" charset="0"/>
                <a:ea typeface="Plus Jakarta Sans" pitchFamily="34" charset="-122"/>
                <a:cs typeface="Plus Jakarta Sans" pitchFamily="34" charset="-120"/>
              </a:rPr>
              <a:t>✕</a:t>
            </a:r>
            <a:endParaRPr lang="en-US" sz="4200" dirty="0"/>
          </a:p>
        </p:txBody>
      </p:sp>
      <p:sp>
        <p:nvSpPr>
          <p:cNvPr id="28" name="Text 26"/>
          <p:cNvSpPr/>
          <p:nvPr/>
        </p:nvSpPr>
        <p:spPr>
          <a:xfrm>
            <a:off x="3405783" y="3799780"/>
            <a:ext cx="1519585" cy="345430"/>
          </a:xfrm>
          <a:prstGeom prst="rect">
            <a:avLst/>
          </a:prstGeom>
          <a:noFill/>
          <a:ln/>
        </p:spPr>
        <p:txBody>
          <a:bodyPr wrap="square" lIns="0" tIns="0" rIns="0" bIns="0" rtlCol="0" anchor="t">
            <a:normAutofit/>
          </a:bodyPr>
          <a:lstStyle/>
          <a:p>
            <a:pPr marL="0" indent="0" algn="ctr">
              <a:lnSpc>
                <a:spcPts val="2520"/>
              </a:lnSpc>
              <a:buNone/>
            </a:pPr>
            <a:r>
              <a:rPr lang="en-US" sz="1800" b="1" dirty="0">
                <a:solidFill>
                  <a:srgbClr val="B93E0A"/>
                </a:solidFill>
                <a:latin typeface="Plus Jakarta Sans" pitchFamily="34" charset="0"/>
                <a:ea typeface="Plus Jakarta Sans" pitchFamily="34" charset="-122"/>
                <a:cs typeface="Plus Jakarta Sans" pitchFamily="34" charset="-120"/>
              </a:rPr>
              <a:t>Already used</a:t>
            </a:r>
            <a:endParaRPr lang="en-US" sz="1800" dirty="0"/>
          </a:p>
        </p:txBody>
      </p:sp>
      <p:sp>
        <p:nvSpPr>
          <p:cNvPr id="29" name="Text 27"/>
          <p:cNvSpPr/>
          <p:nvPr/>
        </p:nvSpPr>
        <p:spPr>
          <a:xfrm>
            <a:off x="3403600" y="4234111"/>
            <a:ext cx="1524000" cy="45204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Copied code: sold earlier</a:t>
            </a:r>
            <a:endParaRPr lang="en-US" sz="1200" dirty="0"/>
          </a:p>
        </p:txBody>
      </p:sp>
      <p:sp>
        <p:nvSpPr>
          <p:cNvPr id="30" name="Text 28"/>
          <p:cNvSpPr/>
          <p:nvPr/>
        </p:nvSpPr>
        <p:spPr>
          <a:xfrm>
            <a:off x="5486400" y="2771080"/>
            <a:ext cx="606958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1E"/>
                </a:solidFill>
                <a:latin typeface="Plus Jakarta Sans" pitchFamily="34" charset="0"/>
                <a:ea typeface="Plus Jakarta Sans" pitchFamily="34" charset="-122"/>
                <a:cs typeface="Plus Jakarta Sans" pitchFamily="34" charset="-120"/>
              </a:rPr>
              <a:t>On-chain proof</a:t>
            </a:r>
            <a:endParaRPr lang="en-US" sz="1600" dirty="0"/>
          </a:p>
        </p:txBody>
      </p:sp>
      <p:sp>
        <p:nvSpPr>
          <p:cNvPr id="31" name="Text 29"/>
          <p:cNvSpPr/>
          <p:nvPr/>
        </p:nvSpPr>
        <p:spPr>
          <a:xfrm>
            <a:off x="5486400" y="3065711"/>
            <a:ext cx="60695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5D57"/>
                </a:solidFill>
                <a:latin typeface="IBM Plex Mono" pitchFamily="34" charset="0"/>
                <a:ea typeface="IBM Plex Mono" pitchFamily="34" charset="-122"/>
                <a:cs typeface="IBM Plex Mono" pitchFamily="34" charset="-120"/>
              </a:rPr>
              <a:t>explorer.solana.com/tx/[signature]?cluster=devnet</a:t>
            </a:r>
            <a:endParaRPr lang="en-US" sz="1200" dirty="0"/>
          </a:p>
        </p:txBody>
      </p:sp>
      <p:sp>
        <p:nvSpPr>
          <p:cNvPr id="32" name="Text 30"/>
          <p:cNvSpPr/>
          <p:nvPr/>
        </p:nvSpPr>
        <p:spPr>
          <a:xfrm>
            <a:off x="5486400" y="3456831"/>
            <a:ext cx="606958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1E"/>
                </a:solidFill>
                <a:latin typeface="Plus Jakarta Sans" pitchFamily="34" charset="0"/>
                <a:ea typeface="Plus Jakarta Sans" pitchFamily="34" charset="-122"/>
                <a:cs typeface="Plus Jakarta Sans" pitchFamily="34" charset="-120"/>
              </a:rPr>
              <a:t>Prop</a:t>
            </a:r>
            <a:endParaRPr lang="en-US" sz="1600" dirty="0"/>
          </a:p>
        </p:txBody>
      </p:sp>
      <p:sp>
        <p:nvSpPr>
          <p:cNvPr id="33" name="Text 31"/>
          <p:cNvSpPr/>
          <p:nvPr/>
        </p:nvSpPr>
        <p:spPr>
          <a:xfrm>
            <a:off x="5486400" y="3751461"/>
            <a:ext cx="6069584"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4A46"/>
                </a:solidFill>
                <a:latin typeface="Plus Jakarta Sans" pitchFamily="34" charset="0"/>
                <a:ea typeface="Plus Jakarta Sans" pitchFamily="34" charset="-122"/>
                <a:cs typeface="Plus Jakarta Sans" pitchFamily="34" charset="-120"/>
              </a:rPr>
              <a:t>Physical box carrying the photocopied QR</a:t>
            </a:r>
            <a:endParaRPr lang="en-US" sz="1300" dirty="0"/>
          </a:p>
        </p:txBody>
      </p:sp>
      <p:sp>
        <p:nvSpPr>
          <p:cNvPr id="34" name="Text 32"/>
          <p:cNvSpPr/>
          <p:nvPr/>
        </p:nvSpPr>
        <p:spPr>
          <a:xfrm>
            <a:off x="5486400" y="4160391"/>
            <a:ext cx="606958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1E"/>
                </a:solidFill>
                <a:latin typeface="Plus Jakarta Sans" pitchFamily="34" charset="0"/>
                <a:ea typeface="Plus Jakarta Sans" pitchFamily="34" charset="-122"/>
                <a:cs typeface="Plus Jakarta Sans" pitchFamily="34" charset="-120"/>
              </a:rPr>
              <a:t>Backup</a:t>
            </a:r>
            <a:endParaRPr lang="en-US" sz="1600" dirty="0"/>
          </a:p>
        </p:txBody>
      </p:sp>
      <p:sp>
        <p:nvSpPr>
          <p:cNvPr id="35" name="Text 33"/>
          <p:cNvSpPr/>
          <p:nvPr/>
        </p:nvSpPr>
        <p:spPr>
          <a:xfrm>
            <a:off x="5486400" y="4455021"/>
            <a:ext cx="6069584"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4A46"/>
                </a:solidFill>
                <a:latin typeface="Plus Jakarta Sans" pitchFamily="34" charset="0"/>
                <a:ea typeface="Plus Jakarta Sans" pitchFamily="34" charset="-122"/>
                <a:cs typeface="Plus Jakarta Sans" pitchFamily="34" charset="-120"/>
              </a:rPr>
              <a:t>Recorded demo video [link]</a:t>
            </a:r>
            <a:endParaRPr lang="en-US" sz="1300" dirty="0"/>
          </a:p>
        </p:txBody>
      </p:sp>
      <p:sp>
        <p:nvSpPr>
          <p:cNvPr id="36" name="Text 34"/>
          <p:cNvSpPr/>
          <p:nvPr/>
        </p:nvSpPr>
        <p:spPr>
          <a:xfrm>
            <a:off x="812800" y="6238280"/>
            <a:ext cx="44489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Phone mockups are placeholders — swap in live screenshots</a:t>
            </a:r>
            <a:endParaRPr lang="en-US" sz="1200" dirty="0"/>
          </a:p>
        </p:txBody>
      </p:sp>
      <p:sp>
        <p:nvSpPr>
          <p:cNvPr id="37" name="Text 35"/>
          <p:cNvSpPr/>
          <p:nvPr/>
        </p:nvSpPr>
        <p:spPr>
          <a:xfrm>
            <a:off x="11184880" y="6238280"/>
            <a:ext cx="2451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07</a:t>
            </a:r>
            <a:endParaRPr lang="en-US" sz="1200" dirty="0"/>
          </a:p>
        </p:txBody>
      </p:sp>
      <p:pic>
        <p:nvPicPr>
          <p:cNvPr id="38" name="WhatsApp Video 2026-09-26 at 3.41.12 PM.mp4">
            <a:hlinkClick r:id="" action="ppaction://media"/>
            <a:extLst>
              <a:ext uri="{FF2B5EF4-FFF2-40B4-BE49-F238E27FC236}">
                <a16:creationId xmlns:a16="http://schemas.microsoft.com/office/drawing/2014/main" id="{F83E7276-1631-0DD7-0538-87DFD4E725D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57625" y="1033594"/>
            <a:ext cx="9401259" cy="56922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8280" fill="hold"/>
                                        <p:tgtEl>
                                          <p:spTgt spid="3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8"/>
                </p:tgtEl>
              </p:cMediaNode>
            </p:video>
            <p:seq concurrent="1" nextAc="seek">
              <p:cTn id="8" restart="whenNotActive" fill="hold" evtFilter="cancelBubble" nodeType="interactiveSeq">
                <p:stCondLst>
                  <p:cond evt="onClick" delay="0">
                    <p:tgtEl>
                      <p:spTgt spid="3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8"/>
                                        </p:tgtEl>
                                      </p:cBhvr>
                                    </p:cmd>
                                  </p:childTnLst>
                                </p:cTn>
                              </p:par>
                            </p:childTnLst>
                          </p:cTn>
                        </p:par>
                      </p:childTnLst>
                    </p:cTn>
                  </p:par>
                </p:childTnLst>
              </p:cTn>
              <p:nextCondLst>
                <p:cond evt="onClick" delay="0">
                  <p:tgtEl>
                    <p:spTgt spid="38"/>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5D57"/>
                </a:solidFill>
                <a:latin typeface="Plus Jakarta Sans" pitchFamily="34" charset="0"/>
                <a:ea typeface="Plus Jakarta Sans" pitchFamily="34" charset="-122"/>
                <a:cs typeface="Plus Jakarta Sans" pitchFamily="34" charset="-120"/>
              </a:rPr>
              <a:t>BUSINESS MODEL</a:t>
            </a:r>
            <a:endParaRPr lang="en-US" sz="1200" dirty="0"/>
          </a:p>
        </p:txBody>
      </p:sp>
      <p:sp>
        <p:nvSpPr>
          <p:cNvPr id="3" name="Text 1"/>
          <p:cNvSpPr/>
          <p:nvPr/>
        </p:nvSpPr>
        <p:spPr>
          <a:xfrm>
            <a:off x="812800" y="1026120"/>
            <a:ext cx="10883392" cy="836116"/>
          </a:xfrm>
          <a:prstGeom prst="rect">
            <a:avLst/>
          </a:prstGeom>
          <a:noFill/>
          <a:ln/>
        </p:spPr>
        <p:txBody>
          <a:bodyPr wrap="square" lIns="0" tIns="0" rIns="0" bIns="0" rtlCol="0" anchor="t">
            <a:normAutofit/>
          </a:bodyPr>
          <a:lstStyle/>
          <a:p>
            <a:pPr marL="0" indent="0" algn="l">
              <a:lnSpc>
                <a:spcPts val="3192"/>
              </a:lnSpc>
              <a:buNone/>
            </a:pPr>
            <a:r>
              <a:rPr lang="en-US" sz="2800" b="1" kern="0" spc="-50" dirty="0">
                <a:solidFill>
                  <a:srgbClr val="12201E"/>
                </a:solidFill>
                <a:latin typeface="Plus Jakarta Sans" pitchFamily="34" charset="0"/>
                <a:ea typeface="Plus Jakarta Sans" pitchFamily="34" charset="-122"/>
                <a:cs typeface="Plus Jakarta Sans" pitchFamily="34" charset="-120"/>
              </a:rPr>
              <a:t>Manufacturers pay per pack to protect their brand. Patients and pharmacies verify for free.</a:t>
            </a:r>
            <a:endParaRPr lang="en-US" sz="2800" dirty="0"/>
          </a:p>
        </p:txBody>
      </p:sp>
      <p:sp>
        <p:nvSpPr>
          <p:cNvPr id="4" name="Shape 2"/>
          <p:cNvSpPr/>
          <p:nvPr/>
        </p:nvSpPr>
        <p:spPr>
          <a:xfrm>
            <a:off x="812800" y="2090837"/>
            <a:ext cx="2517775" cy="1366391"/>
          </a:xfrm>
          <a:prstGeom prst="roundRect">
            <a:avLst>
              <a:gd name="adj" fmla="val 11153"/>
            </a:avLst>
          </a:prstGeom>
          <a:solidFill>
            <a:srgbClr val="0B5D57"/>
          </a:solidFill>
          <a:ln/>
        </p:spPr>
        <p:txBody>
          <a:bodyPr/>
          <a:lstStyle/>
          <a:p>
            <a:endParaRPr lang="en-US"/>
          </a:p>
        </p:txBody>
      </p:sp>
      <p:sp>
        <p:nvSpPr>
          <p:cNvPr id="5" name="Text 3"/>
          <p:cNvSpPr/>
          <p:nvPr/>
        </p:nvSpPr>
        <p:spPr>
          <a:xfrm>
            <a:off x="1016000" y="2268637"/>
            <a:ext cx="217471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8E6C8"/>
                </a:solidFill>
                <a:latin typeface="Plus Jakarta Sans" pitchFamily="34" charset="0"/>
                <a:ea typeface="Plus Jakarta Sans" pitchFamily="34" charset="-122"/>
                <a:cs typeface="Plus Jakarta Sans" pitchFamily="34" charset="-120"/>
              </a:rPr>
              <a:t>PAYS</a:t>
            </a:r>
            <a:endParaRPr lang="en-US" sz="1200" dirty="0"/>
          </a:p>
        </p:txBody>
      </p:sp>
      <p:sp>
        <p:nvSpPr>
          <p:cNvPr id="6" name="Text 4"/>
          <p:cNvSpPr/>
          <p:nvPr/>
        </p:nvSpPr>
        <p:spPr>
          <a:xfrm>
            <a:off x="1016000" y="2545457"/>
            <a:ext cx="217471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FFF"/>
                </a:solidFill>
                <a:latin typeface="Plus Jakarta Sans" pitchFamily="34" charset="0"/>
                <a:ea typeface="Plus Jakarta Sans" pitchFamily="34" charset="-122"/>
                <a:cs typeface="Plus Jakarta Sans" pitchFamily="34" charset="-120"/>
              </a:rPr>
              <a:t>💊 Manufacturers</a:t>
            </a:r>
            <a:endParaRPr lang="en-US" sz="1600" dirty="0"/>
          </a:p>
        </p:txBody>
      </p:sp>
      <p:sp>
        <p:nvSpPr>
          <p:cNvPr id="7" name="Text 5"/>
          <p:cNvSpPr/>
          <p:nvPr/>
        </p:nvSpPr>
        <p:spPr>
          <a:xfrm>
            <a:off x="1016000" y="2852787"/>
            <a:ext cx="217471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DEFE8"/>
                </a:solidFill>
                <a:latin typeface="Plus Jakarta Sans" pitchFamily="34" charset="0"/>
                <a:ea typeface="Plus Jakarta Sans" pitchFamily="34" charset="-122"/>
                <a:cs typeface="Plus Jakarta Sans" pitchFamily="34" charset="-120"/>
              </a:rPr>
              <a:t>Protect revenue, brand, exports</a:t>
            </a:r>
            <a:endParaRPr lang="en-US" sz="1200" dirty="0"/>
          </a:p>
        </p:txBody>
      </p:sp>
      <p:sp>
        <p:nvSpPr>
          <p:cNvPr id="8" name="Shape 6"/>
          <p:cNvSpPr/>
          <p:nvPr/>
        </p:nvSpPr>
        <p:spPr>
          <a:xfrm>
            <a:off x="3486150" y="2094012"/>
            <a:ext cx="2524125" cy="1360041"/>
          </a:xfrm>
          <a:prstGeom prst="roundRect">
            <a:avLst>
              <a:gd name="adj" fmla="val 10972"/>
            </a:avLst>
          </a:prstGeom>
          <a:solidFill>
            <a:srgbClr val="FFFFFF"/>
          </a:solidFill>
          <a:ln w="6350">
            <a:solidFill>
              <a:srgbClr val="D7E2DF"/>
            </a:solidFill>
            <a:prstDash val="solid"/>
          </a:ln>
        </p:spPr>
        <p:txBody>
          <a:bodyPr/>
          <a:lstStyle/>
          <a:p>
            <a:endParaRPr lang="en-US"/>
          </a:p>
        </p:txBody>
      </p:sp>
      <p:sp>
        <p:nvSpPr>
          <p:cNvPr id="9" name="Text 7"/>
          <p:cNvSpPr/>
          <p:nvPr/>
        </p:nvSpPr>
        <p:spPr>
          <a:xfrm>
            <a:off x="3692525" y="2274987"/>
            <a:ext cx="217471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57F4F"/>
                </a:solidFill>
                <a:latin typeface="Plus Jakarta Sans" pitchFamily="34" charset="0"/>
                <a:ea typeface="Plus Jakarta Sans" pitchFamily="34" charset="-122"/>
                <a:cs typeface="Plus Jakarta Sans" pitchFamily="34" charset="-120"/>
              </a:rPr>
              <a:t>FREE</a:t>
            </a:r>
            <a:endParaRPr lang="en-US" sz="1200" dirty="0"/>
          </a:p>
        </p:txBody>
      </p:sp>
      <p:sp>
        <p:nvSpPr>
          <p:cNvPr id="10" name="Text 8"/>
          <p:cNvSpPr/>
          <p:nvPr/>
        </p:nvSpPr>
        <p:spPr>
          <a:xfrm>
            <a:off x="3692525" y="2551807"/>
            <a:ext cx="217471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1E"/>
                </a:solidFill>
                <a:latin typeface="Plus Jakarta Sans" pitchFamily="34" charset="0"/>
                <a:ea typeface="Plus Jakarta Sans" pitchFamily="34" charset="-122"/>
                <a:cs typeface="Plus Jakarta Sans" pitchFamily="34" charset="-120"/>
              </a:rPr>
              <a:t>🏪 Pharmacies</a:t>
            </a:r>
            <a:endParaRPr lang="en-US" sz="1600" dirty="0"/>
          </a:p>
        </p:txBody>
      </p:sp>
      <p:sp>
        <p:nvSpPr>
          <p:cNvPr id="11" name="Text 9"/>
          <p:cNvSpPr/>
          <p:nvPr/>
        </p:nvSpPr>
        <p:spPr>
          <a:xfrm>
            <a:off x="3692525" y="2859137"/>
            <a:ext cx="21747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A4A46"/>
                </a:solidFill>
                <a:latin typeface="Plus Jakarta Sans" pitchFamily="34" charset="0"/>
                <a:ea typeface="Plus Jakarta Sans" pitchFamily="34" charset="-122"/>
                <a:cs typeface="Plus Jakarta Sans" pitchFamily="34" charset="-120"/>
              </a:rPr>
              <a:t>Prove clean stock</a:t>
            </a:r>
            <a:endParaRPr lang="en-US" sz="1200" dirty="0"/>
          </a:p>
        </p:txBody>
      </p:sp>
      <p:sp>
        <p:nvSpPr>
          <p:cNvPr id="12" name="Shape 10"/>
          <p:cNvSpPr/>
          <p:nvPr/>
        </p:nvSpPr>
        <p:spPr>
          <a:xfrm>
            <a:off x="6169025" y="2094012"/>
            <a:ext cx="2524125" cy="1360041"/>
          </a:xfrm>
          <a:prstGeom prst="roundRect">
            <a:avLst>
              <a:gd name="adj" fmla="val 10972"/>
            </a:avLst>
          </a:prstGeom>
          <a:solidFill>
            <a:srgbClr val="FFFFFF"/>
          </a:solidFill>
          <a:ln w="6350">
            <a:solidFill>
              <a:srgbClr val="D7E2DF"/>
            </a:solidFill>
            <a:prstDash val="solid"/>
          </a:ln>
        </p:spPr>
        <p:txBody>
          <a:bodyPr/>
          <a:lstStyle/>
          <a:p>
            <a:endParaRPr lang="en-US"/>
          </a:p>
        </p:txBody>
      </p:sp>
      <p:sp>
        <p:nvSpPr>
          <p:cNvPr id="13" name="Text 11"/>
          <p:cNvSpPr/>
          <p:nvPr/>
        </p:nvSpPr>
        <p:spPr>
          <a:xfrm>
            <a:off x="6375400" y="2274987"/>
            <a:ext cx="217471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57F4F"/>
                </a:solidFill>
                <a:latin typeface="Plus Jakarta Sans" pitchFamily="34" charset="0"/>
                <a:ea typeface="Plus Jakarta Sans" pitchFamily="34" charset="-122"/>
                <a:cs typeface="Plus Jakarta Sans" pitchFamily="34" charset="-120"/>
              </a:rPr>
              <a:t>FREE</a:t>
            </a:r>
            <a:endParaRPr lang="en-US" sz="1200" dirty="0"/>
          </a:p>
        </p:txBody>
      </p:sp>
      <p:sp>
        <p:nvSpPr>
          <p:cNvPr id="14" name="Text 12"/>
          <p:cNvSpPr/>
          <p:nvPr/>
        </p:nvSpPr>
        <p:spPr>
          <a:xfrm>
            <a:off x="6375400" y="2551807"/>
            <a:ext cx="217471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1E"/>
                </a:solidFill>
                <a:latin typeface="Plus Jakarta Sans" pitchFamily="34" charset="0"/>
                <a:ea typeface="Plus Jakarta Sans" pitchFamily="34" charset="-122"/>
                <a:cs typeface="Plus Jakarta Sans" pitchFamily="34" charset="-120"/>
              </a:rPr>
              <a:t>👤 Patients</a:t>
            </a:r>
            <a:endParaRPr lang="en-US" sz="1600" dirty="0"/>
          </a:p>
        </p:txBody>
      </p:sp>
      <p:sp>
        <p:nvSpPr>
          <p:cNvPr id="15" name="Text 13"/>
          <p:cNvSpPr/>
          <p:nvPr/>
        </p:nvSpPr>
        <p:spPr>
          <a:xfrm>
            <a:off x="6375400" y="2859137"/>
            <a:ext cx="21747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A4A46"/>
                </a:solidFill>
                <a:latin typeface="Plus Jakarta Sans" pitchFamily="34" charset="0"/>
                <a:ea typeface="Plus Jakarta Sans" pitchFamily="34" charset="-122"/>
                <a:cs typeface="Plus Jakarta Sans" pitchFamily="34" charset="-120"/>
              </a:rPr>
              <a:t>5-second check</a:t>
            </a:r>
            <a:endParaRPr lang="en-US" sz="1200" dirty="0"/>
          </a:p>
        </p:txBody>
      </p:sp>
      <p:sp>
        <p:nvSpPr>
          <p:cNvPr id="16" name="Shape 14"/>
          <p:cNvSpPr/>
          <p:nvPr/>
        </p:nvSpPr>
        <p:spPr>
          <a:xfrm>
            <a:off x="8851900" y="2094012"/>
            <a:ext cx="2524125" cy="1360041"/>
          </a:xfrm>
          <a:prstGeom prst="roundRect">
            <a:avLst>
              <a:gd name="adj" fmla="val 10972"/>
            </a:avLst>
          </a:prstGeom>
          <a:solidFill>
            <a:srgbClr val="FFFFFF"/>
          </a:solidFill>
          <a:ln w="6350">
            <a:solidFill>
              <a:srgbClr val="D7E2DF"/>
            </a:solidFill>
            <a:prstDash val="solid"/>
          </a:ln>
        </p:spPr>
        <p:txBody>
          <a:bodyPr/>
          <a:lstStyle/>
          <a:p>
            <a:endParaRPr lang="en-US"/>
          </a:p>
        </p:txBody>
      </p:sp>
      <p:sp>
        <p:nvSpPr>
          <p:cNvPr id="17" name="Text 15"/>
          <p:cNvSpPr/>
          <p:nvPr/>
        </p:nvSpPr>
        <p:spPr>
          <a:xfrm>
            <a:off x="9058275" y="2274987"/>
            <a:ext cx="217471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6645F"/>
                </a:solidFill>
                <a:latin typeface="Plus Jakarta Sans" pitchFamily="34" charset="0"/>
                <a:ea typeface="Plus Jakarta Sans" pitchFamily="34" charset="-122"/>
                <a:cs typeface="Plus Jakarta Sans" pitchFamily="34" charset="-120"/>
              </a:rPr>
              <a:t>PARTNER</a:t>
            </a:r>
            <a:endParaRPr lang="en-US" sz="1200" dirty="0"/>
          </a:p>
        </p:txBody>
      </p:sp>
      <p:sp>
        <p:nvSpPr>
          <p:cNvPr id="18" name="Text 16"/>
          <p:cNvSpPr/>
          <p:nvPr/>
        </p:nvSpPr>
        <p:spPr>
          <a:xfrm>
            <a:off x="9058275" y="2551807"/>
            <a:ext cx="217471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1E"/>
                </a:solidFill>
                <a:latin typeface="Plus Jakarta Sans" pitchFamily="34" charset="0"/>
                <a:ea typeface="Plus Jakarta Sans" pitchFamily="34" charset="-122"/>
                <a:cs typeface="Plus Jakarta Sans" pitchFamily="34" charset="-120"/>
              </a:rPr>
              <a:t>🏛 Regulator</a:t>
            </a:r>
            <a:endParaRPr lang="en-US" sz="1600" dirty="0"/>
          </a:p>
        </p:txBody>
      </p:sp>
      <p:sp>
        <p:nvSpPr>
          <p:cNvPr id="19" name="Text 17"/>
          <p:cNvSpPr/>
          <p:nvPr/>
        </p:nvSpPr>
        <p:spPr>
          <a:xfrm>
            <a:off x="9058275" y="2859137"/>
            <a:ext cx="21747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A4A46"/>
                </a:solidFill>
                <a:latin typeface="Plus Jakarta Sans" pitchFamily="34" charset="0"/>
                <a:ea typeface="Plus Jakarta Sans" pitchFamily="34" charset="-122"/>
                <a:cs typeface="Plus Jakarta Sans" pitchFamily="34" charset="-120"/>
              </a:rPr>
              <a:t>Counterfeit hotspot data</a:t>
            </a:r>
            <a:endParaRPr lang="en-US" sz="1200" dirty="0"/>
          </a:p>
        </p:txBody>
      </p:sp>
      <p:sp>
        <p:nvSpPr>
          <p:cNvPr id="20" name="Shape 18"/>
          <p:cNvSpPr/>
          <p:nvPr/>
        </p:nvSpPr>
        <p:spPr>
          <a:xfrm>
            <a:off x="812800" y="3711228"/>
            <a:ext cx="3420517" cy="812800"/>
          </a:xfrm>
          <a:prstGeom prst="roundRect">
            <a:avLst>
              <a:gd name="adj" fmla="val 18750"/>
            </a:avLst>
          </a:prstGeom>
          <a:solidFill>
            <a:srgbClr val="E3EFEC"/>
          </a:solidFill>
          <a:ln/>
        </p:spPr>
        <p:txBody>
          <a:bodyPr/>
          <a:lstStyle/>
          <a:p>
            <a:endParaRPr lang="en-US"/>
          </a:p>
        </p:txBody>
      </p:sp>
      <p:sp>
        <p:nvSpPr>
          <p:cNvPr id="21" name="Text 19"/>
          <p:cNvSpPr/>
          <p:nvPr/>
        </p:nvSpPr>
        <p:spPr>
          <a:xfrm>
            <a:off x="1016000" y="3965228"/>
            <a:ext cx="345480"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0B5D57"/>
                </a:solidFill>
                <a:latin typeface="Plus Jakarta Sans" pitchFamily="34" charset="0"/>
                <a:ea typeface="Plus Jakarta Sans" pitchFamily="34" charset="-122"/>
                <a:cs typeface="Plus Jakarta Sans" pitchFamily="34" charset="-120"/>
              </a:rPr>
              <a:t>①</a:t>
            </a:r>
            <a:endParaRPr lang="en-US" sz="2400" dirty="0"/>
          </a:p>
        </p:txBody>
      </p:sp>
      <p:sp>
        <p:nvSpPr>
          <p:cNvPr id="22" name="Text 20"/>
          <p:cNvSpPr/>
          <p:nvPr/>
        </p:nvSpPr>
        <p:spPr>
          <a:xfrm>
            <a:off x="1437680" y="4003328"/>
            <a:ext cx="127808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2201E"/>
                </a:solidFill>
                <a:latin typeface="Plus Jakarta Sans" pitchFamily="34" charset="0"/>
                <a:ea typeface="Plus Jakarta Sans" pitchFamily="34" charset="-122"/>
                <a:cs typeface="Plus Jakarta Sans" pitchFamily="34" charset="-120"/>
              </a:rPr>
              <a:t>Per-pack fee</a:t>
            </a:r>
            <a:endParaRPr lang="en-US" sz="1500" dirty="0"/>
          </a:p>
        </p:txBody>
      </p:sp>
      <p:sp>
        <p:nvSpPr>
          <p:cNvPr id="23" name="Shape 21"/>
          <p:cNvSpPr/>
          <p:nvPr/>
        </p:nvSpPr>
        <p:spPr>
          <a:xfrm>
            <a:off x="4385717" y="3711228"/>
            <a:ext cx="3420566" cy="812800"/>
          </a:xfrm>
          <a:prstGeom prst="roundRect">
            <a:avLst>
              <a:gd name="adj" fmla="val 18750"/>
            </a:avLst>
          </a:prstGeom>
          <a:solidFill>
            <a:srgbClr val="E3EFEC"/>
          </a:solidFill>
          <a:ln/>
        </p:spPr>
        <p:txBody>
          <a:bodyPr/>
          <a:lstStyle/>
          <a:p>
            <a:endParaRPr lang="en-US"/>
          </a:p>
        </p:txBody>
      </p:sp>
      <p:sp>
        <p:nvSpPr>
          <p:cNvPr id="24" name="Text 22"/>
          <p:cNvSpPr/>
          <p:nvPr/>
        </p:nvSpPr>
        <p:spPr>
          <a:xfrm>
            <a:off x="4588917" y="3965228"/>
            <a:ext cx="295920"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0B5D57"/>
                </a:solidFill>
                <a:latin typeface="Plus Jakarta Sans" pitchFamily="34" charset="0"/>
                <a:ea typeface="Plus Jakarta Sans" pitchFamily="34" charset="-122"/>
                <a:cs typeface="Plus Jakarta Sans" pitchFamily="34" charset="-120"/>
              </a:rPr>
              <a:t>②</a:t>
            </a:r>
            <a:endParaRPr lang="en-US" sz="2400" dirty="0"/>
          </a:p>
        </p:txBody>
      </p:sp>
      <p:sp>
        <p:nvSpPr>
          <p:cNvPr id="25" name="Text 23"/>
          <p:cNvSpPr/>
          <p:nvPr/>
        </p:nvSpPr>
        <p:spPr>
          <a:xfrm>
            <a:off x="4961037" y="3889028"/>
            <a:ext cx="2721308"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2201E"/>
                </a:solidFill>
                <a:latin typeface="Plus Jakarta Sans" pitchFamily="34" charset="0"/>
                <a:ea typeface="Plus Jakarta Sans" pitchFamily="34" charset="-122"/>
                <a:cs typeface="Plus Jakarta Sans" pitchFamily="34" charset="-120"/>
              </a:rPr>
              <a:t>Brand-protection analytics (SaaS)</a:t>
            </a:r>
            <a:endParaRPr lang="en-US" sz="1500" dirty="0"/>
          </a:p>
        </p:txBody>
      </p:sp>
      <p:sp>
        <p:nvSpPr>
          <p:cNvPr id="26" name="Shape 24"/>
          <p:cNvSpPr/>
          <p:nvPr/>
        </p:nvSpPr>
        <p:spPr>
          <a:xfrm>
            <a:off x="7958683" y="3711228"/>
            <a:ext cx="3420517" cy="812800"/>
          </a:xfrm>
          <a:prstGeom prst="roundRect">
            <a:avLst>
              <a:gd name="adj" fmla="val 18750"/>
            </a:avLst>
          </a:prstGeom>
          <a:solidFill>
            <a:srgbClr val="E3EFEC"/>
          </a:solidFill>
          <a:ln/>
        </p:spPr>
        <p:txBody>
          <a:bodyPr/>
          <a:lstStyle/>
          <a:p>
            <a:endParaRPr lang="en-US"/>
          </a:p>
        </p:txBody>
      </p:sp>
      <p:sp>
        <p:nvSpPr>
          <p:cNvPr id="27" name="Text 25"/>
          <p:cNvSpPr/>
          <p:nvPr/>
        </p:nvSpPr>
        <p:spPr>
          <a:xfrm>
            <a:off x="8161883" y="3965228"/>
            <a:ext cx="320725"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0B5D57"/>
                </a:solidFill>
                <a:latin typeface="Plus Jakarta Sans" pitchFamily="34" charset="0"/>
                <a:ea typeface="Plus Jakarta Sans" pitchFamily="34" charset="-122"/>
                <a:cs typeface="Plus Jakarta Sans" pitchFamily="34" charset="-120"/>
              </a:rPr>
              <a:t>③</a:t>
            </a:r>
            <a:endParaRPr lang="en-US" sz="2400" dirty="0"/>
          </a:p>
        </p:txBody>
      </p:sp>
      <p:sp>
        <p:nvSpPr>
          <p:cNvPr id="28" name="Text 26"/>
          <p:cNvSpPr/>
          <p:nvPr/>
        </p:nvSpPr>
        <p:spPr>
          <a:xfrm>
            <a:off x="8558808" y="3889028"/>
            <a:ext cx="2695708"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2201E"/>
                </a:solidFill>
                <a:latin typeface="Plus Jakarta Sans" pitchFamily="34" charset="0"/>
                <a:ea typeface="Plus Jakarta Sans" pitchFamily="34" charset="-122"/>
                <a:cs typeface="Plus Jakarta Sans" pitchFamily="34" charset="-120"/>
              </a:rPr>
              <a:t>Regulator / donor programmes</a:t>
            </a:r>
            <a:endParaRPr lang="en-US" sz="1500" dirty="0"/>
          </a:p>
        </p:txBody>
      </p:sp>
      <p:sp>
        <p:nvSpPr>
          <p:cNvPr id="29" name="Text 27"/>
          <p:cNvSpPr/>
          <p:nvPr/>
        </p:nvSpPr>
        <p:spPr>
          <a:xfrm>
            <a:off x="812800" y="4778028"/>
            <a:ext cx="10883392"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0B5D57"/>
                </a:solidFill>
                <a:latin typeface="Plus Jakarta Sans" pitchFamily="34" charset="0"/>
                <a:ea typeface="Plus Jakarta Sans" pitchFamily="34" charset="-122"/>
                <a:cs typeface="Plus Jakarta Sans" pitchFamily="34" charset="-120"/>
              </a:rPr>
              <a:t>IN IRELAND  </a:t>
            </a:r>
            <a:r>
              <a:rPr lang="en-US" sz="1500" dirty="0">
                <a:solidFill>
                  <a:srgbClr val="12201E"/>
                </a:solidFill>
                <a:latin typeface="Plus Jakarta Sans" pitchFamily="34" charset="0"/>
                <a:ea typeface="Plus Jakarta Sans" pitchFamily="34" charset="-122"/>
                <a:cs typeface="Plus Jakarta Sans" pitchFamily="34" charset="-120"/>
              </a:rPr>
              <a:t>Like ticketing: </a:t>
            </a:r>
            <a:r>
              <a:rPr lang="en-US" sz="1500" b="1" dirty="0">
                <a:solidFill>
                  <a:srgbClr val="12201E"/>
                </a:solidFill>
                <a:latin typeface="Plus Jakarta Sans" pitchFamily="34" charset="0"/>
                <a:ea typeface="Plus Jakarta Sans" pitchFamily="34" charset="-122"/>
                <a:cs typeface="Plus Jakarta Sans" pitchFamily="34" charset="-120"/>
              </a:rPr>
              <a:t>the promoter pays for the gate, not the fan.</a:t>
            </a:r>
            <a:endParaRPr lang="en-US" sz="1500" dirty="0"/>
          </a:p>
        </p:txBody>
      </p:sp>
      <p:sp>
        <p:nvSpPr>
          <p:cNvPr id="30" name="Text 28"/>
          <p:cNvSpPr/>
          <p:nvPr/>
        </p:nvSpPr>
        <p:spPr>
          <a:xfrm>
            <a:off x="812800" y="6238280"/>
            <a:ext cx="754998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Target fee ≈ €0.007 per pack (~1% of a €0.70 antibiotic pack) vs ≈ €0.0016 cost. To validate in the pilot</a:t>
            </a:r>
            <a:endParaRPr lang="en-US" sz="1200" dirty="0"/>
          </a:p>
        </p:txBody>
      </p:sp>
      <p:sp>
        <p:nvSpPr>
          <p:cNvPr id="31" name="Text 29"/>
          <p:cNvSpPr/>
          <p:nvPr/>
        </p:nvSpPr>
        <p:spPr>
          <a:xfrm>
            <a:off x="11171932" y="6238280"/>
            <a:ext cx="2580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5D57"/>
                </a:solidFill>
                <a:latin typeface="Plus Jakarta Sans" pitchFamily="34" charset="0"/>
                <a:ea typeface="Plus Jakarta Sans" pitchFamily="34" charset="-122"/>
                <a:cs typeface="Plus Jakarta Sans" pitchFamily="34" charset="-120"/>
              </a:rPr>
              <a:t>GO-TO-MARKET &amp; SCALE</a:t>
            </a:r>
            <a:endParaRPr lang="en-US" sz="1200" dirty="0"/>
          </a:p>
        </p:txBody>
      </p:sp>
      <p:sp>
        <p:nvSpPr>
          <p:cNvPr id="3" name="Text 1"/>
          <p:cNvSpPr/>
          <p:nvPr/>
        </p:nvSpPr>
        <p:spPr>
          <a:xfrm>
            <a:off x="812800" y="1026120"/>
            <a:ext cx="10883392" cy="836116"/>
          </a:xfrm>
          <a:prstGeom prst="rect">
            <a:avLst/>
          </a:prstGeom>
          <a:noFill/>
          <a:ln/>
        </p:spPr>
        <p:txBody>
          <a:bodyPr wrap="square" lIns="0" tIns="0" rIns="0" bIns="0" rtlCol="0" anchor="t">
            <a:normAutofit/>
          </a:bodyPr>
          <a:lstStyle/>
          <a:p>
            <a:pPr marL="0" indent="0" algn="l">
              <a:lnSpc>
                <a:spcPts val="3192"/>
              </a:lnSpc>
              <a:buNone/>
            </a:pPr>
            <a:r>
              <a:rPr lang="en-US" sz="2800" b="1" kern="0" spc="-50" dirty="0">
                <a:solidFill>
                  <a:srgbClr val="12201E"/>
                </a:solidFill>
                <a:latin typeface="Plus Jakarta Sans" pitchFamily="34" charset="0"/>
                <a:ea typeface="Plus Jakarta Sans" pitchFamily="34" charset="-122"/>
                <a:cs typeface="Plus Jakarta Sans" pitchFamily="34" charset="-120"/>
              </a:rPr>
              <a:t>Start with one antibiotic in one district, then scale to every market without a gate</a:t>
            </a:r>
            <a:endParaRPr lang="en-US" sz="2800" dirty="0"/>
          </a:p>
        </p:txBody>
      </p:sp>
      <p:sp>
        <p:nvSpPr>
          <p:cNvPr id="4" name="Shape 2"/>
          <p:cNvSpPr/>
          <p:nvPr/>
        </p:nvSpPr>
        <p:spPr>
          <a:xfrm>
            <a:off x="812800" y="2141637"/>
            <a:ext cx="2436316" cy="1737271"/>
          </a:xfrm>
          <a:prstGeom prst="roundRect">
            <a:avLst>
              <a:gd name="adj" fmla="val 8772"/>
            </a:avLst>
          </a:prstGeom>
          <a:solidFill>
            <a:srgbClr val="0B5D57"/>
          </a:solidFill>
          <a:ln/>
        </p:spPr>
        <p:txBody>
          <a:bodyPr/>
          <a:lstStyle/>
          <a:p>
            <a:endParaRPr lang="en-US"/>
          </a:p>
        </p:txBody>
      </p:sp>
      <p:sp>
        <p:nvSpPr>
          <p:cNvPr id="5" name="Text 3"/>
          <p:cNvSpPr/>
          <p:nvPr/>
        </p:nvSpPr>
        <p:spPr>
          <a:xfrm>
            <a:off x="1016000" y="2344837"/>
            <a:ext cx="209081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E6C8"/>
                </a:solidFill>
                <a:latin typeface="IBM Plex Mono" pitchFamily="34" charset="0"/>
                <a:ea typeface="IBM Plex Mono" pitchFamily="34" charset="-122"/>
                <a:cs typeface="IBM Plex Mono" pitchFamily="34" charset="-120"/>
              </a:rPr>
              <a:t>0–6 MO</a:t>
            </a:r>
            <a:endParaRPr lang="en-US" sz="1200" dirty="0"/>
          </a:p>
        </p:txBody>
      </p:sp>
      <p:sp>
        <p:nvSpPr>
          <p:cNvPr id="6" name="Text 4"/>
          <p:cNvSpPr/>
          <p:nvPr/>
        </p:nvSpPr>
        <p:spPr>
          <a:xfrm>
            <a:off x="1016000" y="2634357"/>
            <a:ext cx="209081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FFFFF"/>
                </a:solidFill>
                <a:latin typeface="Plus Jakarta Sans" pitchFamily="34" charset="0"/>
                <a:ea typeface="Plus Jakarta Sans" pitchFamily="34" charset="-122"/>
                <a:cs typeface="Plus Jakarta Sans" pitchFamily="34" charset="-120"/>
              </a:rPr>
              <a:t>Pilot</a:t>
            </a:r>
            <a:endParaRPr lang="en-US" sz="1700" dirty="0"/>
          </a:p>
        </p:txBody>
      </p:sp>
      <p:sp>
        <p:nvSpPr>
          <p:cNvPr id="7" name="Text 5"/>
          <p:cNvSpPr/>
          <p:nvPr/>
        </p:nvSpPr>
        <p:spPr>
          <a:xfrm>
            <a:off x="1016000" y="2969617"/>
            <a:ext cx="2090814"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DEFE8"/>
                </a:solidFill>
                <a:latin typeface="Plus Jakarta Sans" pitchFamily="34" charset="0"/>
                <a:ea typeface="Plus Jakarta Sans" pitchFamily="34" charset="-122"/>
                <a:cs typeface="Plus Jakarta Sans" pitchFamily="34" charset="-120"/>
              </a:rPr>
              <a:t>1 manufacturer · 1 antibiotic · 1 district</a:t>
            </a:r>
            <a:endParaRPr lang="en-US" sz="1300" dirty="0"/>
          </a:p>
        </p:txBody>
      </p:sp>
      <p:sp>
        <p:nvSpPr>
          <p:cNvPr id="8" name="Text 6"/>
          <p:cNvSpPr/>
          <p:nvPr/>
        </p:nvSpPr>
        <p:spPr>
          <a:xfrm>
            <a:off x="3325316" y="2814687"/>
            <a:ext cx="15939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0B5D57"/>
                </a:solidFill>
                <a:latin typeface="Plus Jakarta Sans" pitchFamily="34" charset="0"/>
                <a:ea typeface="Plus Jakarta Sans" pitchFamily="34" charset="-122"/>
                <a:cs typeface="Plus Jakarta Sans" pitchFamily="34" charset="-120"/>
              </a:rPr>
              <a:t>›</a:t>
            </a:r>
            <a:endParaRPr lang="en-US" sz="2200" dirty="0"/>
          </a:p>
        </p:txBody>
      </p:sp>
      <p:sp>
        <p:nvSpPr>
          <p:cNvPr id="9" name="Shape 7"/>
          <p:cNvSpPr/>
          <p:nvPr/>
        </p:nvSpPr>
        <p:spPr>
          <a:xfrm>
            <a:off x="3513286" y="2144812"/>
            <a:ext cx="2442716" cy="1730921"/>
          </a:xfrm>
          <a:prstGeom prst="roundRect">
            <a:avLst>
              <a:gd name="adj" fmla="val 8621"/>
            </a:avLst>
          </a:prstGeom>
          <a:solidFill>
            <a:srgbClr val="FFFFFF"/>
          </a:solidFill>
          <a:ln w="6350">
            <a:solidFill>
              <a:srgbClr val="D7E2DF"/>
            </a:solidFill>
            <a:prstDash val="solid"/>
          </a:ln>
        </p:spPr>
        <p:txBody>
          <a:bodyPr/>
          <a:lstStyle/>
          <a:p>
            <a:endParaRPr lang="en-US"/>
          </a:p>
        </p:txBody>
      </p:sp>
      <p:sp>
        <p:nvSpPr>
          <p:cNvPr id="10" name="Text 8"/>
          <p:cNvSpPr/>
          <p:nvPr/>
        </p:nvSpPr>
        <p:spPr>
          <a:xfrm>
            <a:off x="3719661" y="2351187"/>
            <a:ext cx="20908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5D57"/>
                </a:solidFill>
                <a:latin typeface="IBM Plex Mono" pitchFamily="34" charset="0"/>
                <a:ea typeface="IBM Plex Mono" pitchFamily="34" charset="-122"/>
                <a:cs typeface="IBM Plex Mono" pitchFamily="34" charset="-120"/>
              </a:rPr>
              <a:t>6–18 MO</a:t>
            </a:r>
            <a:endParaRPr lang="en-US" sz="1200" dirty="0"/>
          </a:p>
        </p:txBody>
      </p:sp>
      <p:sp>
        <p:nvSpPr>
          <p:cNvPr id="11" name="Text 9"/>
          <p:cNvSpPr/>
          <p:nvPr/>
        </p:nvSpPr>
        <p:spPr>
          <a:xfrm>
            <a:off x="3719661" y="2640707"/>
            <a:ext cx="209086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2201E"/>
                </a:solidFill>
                <a:latin typeface="Plus Jakarta Sans" pitchFamily="34" charset="0"/>
                <a:ea typeface="Plus Jakarta Sans" pitchFamily="34" charset="-122"/>
                <a:cs typeface="Plus Jakarta Sans" pitchFamily="34" charset="-120"/>
              </a:rPr>
              <a:t>Regulator</a:t>
            </a:r>
            <a:endParaRPr lang="en-US" sz="1700" dirty="0"/>
          </a:p>
        </p:txBody>
      </p:sp>
      <p:sp>
        <p:nvSpPr>
          <p:cNvPr id="12" name="Text 10"/>
          <p:cNvSpPr/>
          <p:nvPr/>
        </p:nvSpPr>
        <p:spPr>
          <a:xfrm>
            <a:off x="3719661" y="2975967"/>
            <a:ext cx="2090865"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4A46"/>
                </a:solidFill>
                <a:latin typeface="Plus Jakarta Sans" pitchFamily="34" charset="0"/>
                <a:ea typeface="Plus Jakarta Sans" pitchFamily="34" charset="-122"/>
                <a:cs typeface="Plus Jakarta Sans" pitchFamily="34" charset="-120"/>
              </a:rPr>
              <a:t>Regulator-approved manufacturer registry</a:t>
            </a:r>
            <a:endParaRPr lang="en-US" sz="1300" dirty="0"/>
          </a:p>
        </p:txBody>
      </p:sp>
      <p:sp>
        <p:nvSpPr>
          <p:cNvPr id="13" name="Text 11"/>
          <p:cNvSpPr/>
          <p:nvPr/>
        </p:nvSpPr>
        <p:spPr>
          <a:xfrm>
            <a:off x="6035377" y="2814687"/>
            <a:ext cx="15939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0B5D57"/>
                </a:solidFill>
                <a:latin typeface="Plus Jakarta Sans" pitchFamily="34" charset="0"/>
                <a:ea typeface="Plus Jakarta Sans" pitchFamily="34" charset="-122"/>
                <a:cs typeface="Plus Jakarta Sans" pitchFamily="34" charset="-120"/>
              </a:rPr>
              <a:t>›</a:t>
            </a:r>
            <a:endParaRPr lang="en-US" sz="2200" dirty="0"/>
          </a:p>
        </p:txBody>
      </p:sp>
      <p:sp>
        <p:nvSpPr>
          <p:cNvPr id="14" name="Shape 12"/>
          <p:cNvSpPr/>
          <p:nvPr/>
        </p:nvSpPr>
        <p:spPr>
          <a:xfrm>
            <a:off x="6223347" y="2144812"/>
            <a:ext cx="2442666" cy="1730921"/>
          </a:xfrm>
          <a:prstGeom prst="roundRect">
            <a:avLst>
              <a:gd name="adj" fmla="val 8621"/>
            </a:avLst>
          </a:prstGeom>
          <a:solidFill>
            <a:srgbClr val="FFFFFF"/>
          </a:solidFill>
          <a:ln w="6350">
            <a:solidFill>
              <a:srgbClr val="D7E2DF"/>
            </a:solidFill>
            <a:prstDash val="solid"/>
          </a:ln>
        </p:spPr>
        <p:txBody>
          <a:bodyPr/>
          <a:lstStyle/>
          <a:p>
            <a:endParaRPr lang="en-US"/>
          </a:p>
        </p:txBody>
      </p:sp>
      <p:sp>
        <p:nvSpPr>
          <p:cNvPr id="15" name="Text 13"/>
          <p:cNvSpPr/>
          <p:nvPr/>
        </p:nvSpPr>
        <p:spPr>
          <a:xfrm>
            <a:off x="6429722" y="2351187"/>
            <a:ext cx="209081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5D57"/>
                </a:solidFill>
                <a:latin typeface="IBM Plex Mono" pitchFamily="34" charset="0"/>
                <a:ea typeface="IBM Plex Mono" pitchFamily="34" charset="-122"/>
                <a:cs typeface="IBM Plex Mono" pitchFamily="34" charset="-120"/>
              </a:rPr>
              <a:t>18–36 MO</a:t>
            </a:r>
            <a:endParaRPr lang="en-US" sz="1200" dirty="0"/>
          </a:p>
        </p:txBody>
      </p:sp>
      <p:sp>
        <p:nvSpPr>
          <p:cNvPr id="16" name="Text 14"/>
          <p:cNvSpPr/>
          <p:nvPr/>
        </p:nvSpPr>
        <p:spPr>
          <a:xfrm>
            <a:off x="6429722" y="2640707"/>
            <a:ext cx="209081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2201E"/>
                </a:solidFill>
                <a:latin typeface="Plus Jakarta Sans" pitchFamily="34" charset="0"/>
                <a:ea typeface="Plus Jakarta Sans" pitchFamily="34" charset="-122"/>
                <a:cs typeface="Plus Jakarta Sans" pitchFamily="34" charset="-120"/>
              </a:rPr>
              <a:t>National</a:t>
            </a:r>
            <a:endParaRPr lang="en-US" sz="1700" dirty="0"/>
          </a:p>
        </p:txBody>
      </p:sp>
      <p:sp>
        <p:nvSpPr>
          <p:cNvPr id="17" name="Text 15"/>
          <p:cNvSpPr/>
          <p:nvPr/>
        </p:nvSpPr>
        <p:spPr>
          <a:xfrm>
            <a:off x="6429722" y="2975967"/>
            <a:ext cx="2090814"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4A46"/>
                </a:solidFill>
                <a:latin typeface="Plus Jakarta Sans" pitchFamily="34" charset="0"/>
                <a:ea typeface="Plus Jakarta Sans" pitchFamily="34" charset="-122"/>
                <a:cs typeface="Plus Jakarta Sans" pitchFamily="34" charset="-120"/>
              </a:rPr>
              <a:t>Top 20–25 manufacturers + SMS checks for basic phones</a:t>
            </a:r>
            <a:endParaRPr lang="en-US" sz="1300" dirty="0"/>
          </a:p>
        </p:txBody>
      </p:sp>
      <p:sp>
        <p:nvSpPr>
          <p:cNvPr id="18" name="Text 16"/>
          <p:cNvSpPr/>
          <p:nvPr/>
        </p:nvSpPr>
        <p:spPr>
          <a:xfrm>
            <a:off x="8745389" y="2814687"/>
            <a:ext cx="15939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0B5D57"/>
                </a:solidFill>
                <a:latin typeface="Plus Jakarta Sans" pitchFamily="34" charset="0"/>
                <a:ea typeface="Plus Jakarta Sans" pitchFamily="34" charset="-122"/>
                <a:cs typeface="Plus Jakarta Sans" pitchFamily="34" charset="-120"/>
              </a:rPr>
              <a:t>›</a:t>
            </a:r>
            <a:endParaRPr lang="en-US" sz="2200" dirty="0"/>
          </a:p>
        </p:txBody>
      </p:sp>
      <p:sp>
        <p:nvSpPr>
          <p:cNvPr id="19" name="Shape 17"/>
          <p:cNvSpPr/>
          <p:nvPr/>
        </p:nvSpPr>
        <p:spPr>
          <a:xfrm>
            <a:off x="8933359" y="2144812"/>
            <a:ext cx="2442666" cy="1730921"/>
          </a:xfrm>
          <a:prstGeom prst="roundRect">
            <a:avLst>
              <a:gd name="adj" fmla="val 8621"/>
            </a:avLst>
          </a:prstGeom>
          <a:solidFill>
            <a:srgbClr val="FFFFFF"/>
          </a:solidFill>
          <a:ln w="6350">
            <a:solidFill>
              <a:srgbClr val="D7E2DF"/>
            </a:solidFill>
            <a:prstDash val="solid"/>
          </a:ln>
        </p:spPr>
        <p:txBody>
          <a:bodyPr/>
          <a:lstStyle/>
          <a:p>
            <a:endParaRPr lang="en-US"/>
          </a:p>
        </p:txBody>
      </p:sp>
      <p:sp>
        <p:nvSpPr>
          <p:cNvPr id="20" name="Text 18"/>
          <p:cNvSpPr/>
          <p:nvPr/>
        </p:nvSpPr>
        <p:spPr>
          <a:xfrm>
            <a:off x="9139734" y="2351187"/>
            <a:ext cx="209081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5D57"/>
                </a:solidFill>
                <a:latin typeface="IBM Plex Mono" pitchFamily="34" charset="0"/>
                <a:ea typeface="IBM Plex Mono" pitchFamily="34" charset="-122"/>
                <a:cs typeface="IBM Plex Mono" pitchFamily="34" charset="-120"/>
              </a:rPr>
              <a:t>36 MO +</a:t>
            </a:r>
            <a:endParaRPr lang="en-US" sz="1200" dirty="0"/>
          </a:p>
        </p:txBody>
      </p:sp>
      <p:sp>
        <p:nvSpPr>
          <p:cNvPr id="21" name="Text 19"/>
          <p:cNvSpPr/>
          <p:nvPr/>
        </p:nvSpPr>
        <p:spPr>
          <a:xfrm>
            <a:off x="9139734" y="2640707"/>
            <a:ext cx="209081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2201E"/>
                </a:solidFill>
                <a:latin typeface="Plus Jakarta Sans" pitchFamily="34" charset="0"/>
                <a:ea typeface="Plus Jakarta Sans" pitchFamily="34" charset="-122"/>
                <a:cs typeface="Plus Jakarta Sans" pitchFamily="34" charset="-120"/>
              </a:rPr>
              <a:t>Regional</a:t>
            </a:r>
            <a:endParaRPr lang="en-US" sz="1700" dirty="0"/>
          </a:p>
        </p:txBody>
      </p:sp>
      <p:sp>
        <p:nvSpPr>
          <p:cNvPr id="22" name="Text 20"/>
          <p:cNvSpPr/>
          <p:nvPr/>
        </p:nvSpPr>
        <p:spPr>
          <a:xfrm>
            <a:off x="9139734" y="2975967"/>
            <a:ext cx="2090814"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4A46"/>
                </a:solidFill>
                <a:latin typeface="Plus Jakarta Sans" pitchFamily="34" charset="0"/>
                <a:ea typeface="Plus Jakarta Sans" pitchFamily="34" charset="-122"/>
                <a:cs typeface="Plus Jakarta Sans" pitchFamily="34" charset="-120"/>
              </a:rPr>
              <a:t>South Asia &amp; Sub-Saharan Africa</a:t>
            </a:r>
            <a:endParaRPr lang="en-US" sz="1300" dirty="0"/>
          </a:p>
        </p:txBody>
      </p:sp>
      <p:sp>
        <p:nvSpPr>
          <p:cNvPr id="23" name="Shape 21"/>
          <p:cNvSpPr/>
          <p:nvPr/>
        </p:nvSpPr>
        <p:spPr>
          <a:xfrm>
            <a:off x="812800" y="4183707"/>
            <a:ext cx="10566400" cy="673100"/>
          </a:xfrm>
          <a:prstGeom prst="roundRect">
            <a:avLst>
              <a:gd name="adj" fmla="val 22642"/>
            </a:avLst>
          </a:prstGeom>
          <a:solidFill>
            <a:srgbClr val="E3EFEC"/>
          </a:solidFill>
          <a:ln/>
        </p:spPr>
        <p:txBody>
          <a:bodyPr/>
          <a:lstStyle/>
          <a:p>
            <a:endParaRPr lang="en-US"/>
          </a:p>
        </p:txBody>
      </p:sp>
      <p:sp>
        <p:nvSpPr>
          <p:cNvPr id="24" name="Text 22"/>
          <p:cNvSpPr/>
          <p:nvPr/>
        </p:nvSpPr>
        <p:spPr>
          <a:xfrm>
            <a:off x="1117600" y="4413597"/>
            <a:ext cx="116507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5D57"/>
                </a:solidFill>
                <a:latin typeface="Plus Jakarta Sans" pitchFamily="34" charset="0"/>
                <a:ea typeface="Plus Jakarta Sans" pitchFamily="34" charset="-122"/>
                <a:cs typeface="Plus Jakarta Sans" pitchFamily="34" charset="-120"/>
              </a:rPr>
              <a:t>WHY WE WIN</a:t>
            </a:r>
            <a:endParaRPr lang="en-US" sz="1200" dirty="0"/>
          </a:p>
        </p:txBody>
      </p:sp>
      <p:sp>
        <p:nvSpPr>
          <p:cNvPr id="25" name="Text 23"/>
          <p:cNvSpPr/>
          <p:nvPr/>
        </p:nvSpPr>
        <p:spPr>
          <a:xfrm>
            <a:off x="2485876" y="4386907"/>
            <a:ext cx="147002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201E"/>
                </a:solidFill>
                <a:latin typeface="Plus Jakarta Sans" pitchFamily="34" charset="0"/>
                <a:ea typeface="Plus Jakarta Sans" pitchFamily="34" charset="-122"/>
                <a:cs typeface="Plus Jakarta Sans" pitchFamily="34" charset="-120"/>
              </a:rPr>
              <a:t>Network effect</a:t>
            </a:r>
            <a:endParaRPr lang="en-US" sz="1500" dirty="0"/>
          </a:p>
        </p:txBody>
      </p:sp>
      <p:sp>
        <p:nvSpPr>
          <p:cNvPr id="26" name="Text 24"/>
          <p:cNvSpPr/>
          <p:nvPr/>
        </p:nvSpPr>
        <p:spPr>
          <a:xfrm>
            <a:off x="4159101" y="4386907"/>
            <a:ext cx="10532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B5D57"/>
                </a:solidFill>
                <a:latin typeface="Plus Jakarta Sans" pitchFamily="34" charset="0"/>
                <a:ea typeface="Plus Jakarta Sans" pitchFamily="34" charset="-122"/>
                <a:cs typeface="Plus Jakarta Sans" pitchFamily="34" charset="-120"/>
              </a:rPr>
              <a:t>·</a:t>
            </a:r>
            <a:endParaRPr lang="en-US" sz="1500" dirty="0"/>
          </a:p>
        </p:txBody>
      </p:sp>
      <p:sp>
        <p:nvSpPr>
          <p:cNvPr id="27" name="Text 25"/>
          <p:cNvSpPr/>
          <p:nvPr/>
        </p:nvSpPr>
        <p:spPr>
          <a:xfrm>
            <a:off x="4467622" y="4386907"/>
            <a:ext cx="184360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201E"/>
                </a:solidFill>
                <a:latin typeface="Plus Jakarta Sans" pitchFamily="34" charset="0"/>
                <a:ea typeface="Plus Jakarta Sans" pitchFamily="34" charset="-122"/>
                <a:cs typeface="Plus Jakarta Sans" pitchFamily="34" charset="-120"/>
              </a:rPr>
              <a:t>A gate no one owns</a:t>
            </a:r>
            <a:endParaRPr lang="en-US" sz="1500" dirty="0"/>
          </a:p>
        </p:txBody>
      </p:sp>
      <p:sp>
        <p:nvSpPr>
          <p:cNvPr id="28" name="Text 26"/>
          <p:cNvSpPr/>
          <p:nvPr/>
        </p:nvSpPr>
        <p:spPr>
          <a:xfrm>
            <a:off x="6511528" y="4386907"/>
            <a:ext cx="10532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B5D57"/>
                </a:solidFill>
                <a:latin typeface="Plus Jakarta Sans" pitchFamily="34" charset="0"/>
                <a:ea typeface="Plus Jakarta Sans" pitchFamily="34" charset="-122"/>
                <a:cs typeface="Plus Jakarta Sans" pitchFamily="34" charset="-120"/>
              </a:rPr>
              <a:t>·</a:t>
            </a:r>
            <a:endParaRPr lang="en-US" sz="1500" dirty="0"/>
          </a:p>
        </p:txBody>
      </p:sp>
      <p:sp>
        <p:nvSpPr>
          <p:cNvPr id="29" name="Text 27"/>
          <p:cNvSpPr/>
          <p:nvPr/>
        </p:nvSpPr>
        <p:spPr>
          <a:xfrm>
            <a:off x="6820049" y="4386907"/>
            <a:ext cx="246438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201E"/>
                </a:solidFill>
                <a:latin typeface="Plus Jakarta Sans" pitchFamily="34" charset="0"/>
                <a:ea typeface="Plus Jakarta Sans" pitchFamily="34" charset="-122"/>
                <a:cs typeface="Plus Jakarta Sans" pitchFamily="34" charset="-120"/>
              </a:rPr>
              <a:t>Counterfeit-hotspot data</a:t>
            </a:r>
            <a:endParaRPr lang="en-US" sz="1500" dirty="0"/>
          </a:p>
        </p:txBody>
      </p:sp>
      <p:sp>
        <p:nvSpPr>
          <p:cNvPr id="30" name="Text 28"/>
          <p:cNvSpPr/>
          <p:nvPr/>
        </p:nvSpPr>
        <p:spPr>
          <a:xfrm>
            <a:off x="812800" y="6238280"/>
            <a:ext cx="84310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Timelines indicative · Sadman Araf · Tarannum Ahammed Noushin · Md Asif Rahman · Mohammad Fahim Haque · DCU</a:t>
            </a:r>
            <a:endParaRPr lang="en-US" sz="1200" dirty="0"/>
          </a:p>
        </p:txBody>
      </p:sp>
      <p:sp>
        <p:nvSpPr>
          <p:cNvPr id="31" name="Text 29"/>
          <p:cNvSpPr/>
          <p:nvPr/>
        </p:nvSpPr>
        <p:spPr>
          <a:xfrm>
            <a:off x="11176645" y="6238280"/>
            <a:ext cx="25335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3D3A"/>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FD3B4"/>
                </a:solidFill>
                <a:latin typeface="Plus Jakarta Sans" pitchFamily="34" charset="0"/>
                <a:ea typeface="Plus Jakarta Sans" pitchFamily="34" charset="-122"/>
                <a:cs typeface="Plus Jakarta Sans" pitchFamily="34" charset="-120"/>
              </a:rPr>
              <a:t>TO THE JUDGES</a:t>
            </a:r>
            <a:endParaRPr lang="en-US" sz="1200" dirty="0"/>
          </a:p>
        </p:txBody>
      </p:sp>
      <p:sp>
        <p:nvSpPr>
          <p:cNvPr id="3" name="Text 1"/>
          <p:cNvSpPr/>
          <p:nvPr/>
        </p:nvSpPr>
        <p:spPr>
          <a:xfrm>
            <a:off x="812800" y="1026120"/>
            <a:ext cx="10883392" cy="459730"/>
          </a:xfrm>
          <a:prstGeom prst="rect">
            <a:avLst/>
          </a:prstGeom>
          <a:noFill/>
          <a:ln/>
        </p:spPr>
        <p:txBody>
          <a:bodyPr wrap="square" lIns="0" tIns="0" rIns="0" bIns="0" rtlCol="0" anchor="t">
            <a:normAutofit/>
          </a:bodyPr>
          <a:lstStyle/>
          <a:p>
            <a:pPr marL="0" indent="0" algn="l">
              <a:lnSpc>
                <a:spcPts val="3420"/>
              </a:lnSpc>
              <a:buNone/>
            </a:pPr>
            <a:r>
              <a:rPr lang="en-US" sz="3000" b="1" kern="0" spc="-50" dirty="0">
                <a:solidFill>
                  <a:srgbClr val="F1F6F4"/>
                </a:solidFill>
                <a:latin typeface="Plus Jakarta Sans" pitchFamily="34" charset="0"/>
                <a:ea typeface="Plus Jakarta Sans" pitchFamily="34" charset="-122"/>
                <a:cs typeface="Plus Jakarta Sans" pitchFamily="34" charset="-120"/>
              </a:rPr>
              <a:t>A real problem, a proven fix, and a working build</a:t>
            </a:r>
            <a:endParaRPr lang="en-US" sz="3000" dirty="0"/>
          </a:p>
        </p:txBody>
      </p:sp>
      <p:sp>
        <p:nvSpPr>
          <p:cNvPr id="4" name="Shape 2"/>
          <p:cNvSpPr/>
          <p:nvPr/>
        </p:nvSpPr>
        <p:spPr>
          <a:xfrm>
            <a:off x="812800" y="1765250"/>
            <a:ext cx="3386634" cy="2537371"/>
          </a:xfrm>
          <a:prstGeom prst="roundRect">
            <a:avLst>
              <a:gd name="adj" fmla="val 6006"/>
            </a:avLst>
          </a:prstGeom>
          <a:solidFill>
            <a:srgbClr val="14524D"/>
          </a:solidFill>
          <a:ln/>
        </p:spPr>
        <p:txBody>
          <a:bodyPr/>
          <a:lstStyle/>
          <a:p>
            <a:endParaRPr lang="en-US"/>
          </a:p>
        </p:txBody>
      </p:sp>
      <p:sp>
        <p:nvSpPr>
          <p:cNvPr id="5" name="Text 3"/>
          <p:cNvSpPr/>
          <p:nvPr/>
        </p:nvSpPr>
        <p:spPr>
          <a:xfrm>
            <a:off x="1066800" y="2019250"/>
            <a:ext cx="296499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D3B4"/>
                </a:solidFill>
                <a:latin typeface="Plus Jakarta Sans" pitchFamily="34" charset="0"/>
                <a:ea typeface="Plus Jakarta Sans" pitchFamily="34" charset="-122"/>
                <a:cs typeface="Plus Jakarta Sans" pitchFamily="34" charset="-120"/>
              </a:rPr>
              <a:t>REAL HARM</a:t>
            </a:r>
            <a:endParaRPr lang="en-US" sz="1200" dirty="0"/>
          </a:p>
        </p:txBody>
      </p:sp>
      <p:sp>
        <p:nvSpPr>
          <p:cNvPr id="6" name="Text 4"/>
          <p:cNvSpPr/>
          <p:nvPr/>
        </p:nvSpPr>
        <p:spPr>
          <a:xfrm>
            <a:off x="1066800" y="2334171"/>
            <a:ext cx="2964993"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F3A56B"/>
                </a:solidFill>
                <a:latin typeface="Plus Jakarta Sans" pitchFamily="34" charset="0"/>
                <a:ea typeface="Plus Jakarta Sans" pitchFamily="34" charset="-122"/>
                <a:cs typeface="Plus Jakarta Sans" pitchFamily="34" charset="-120"/>
              </a:rPr>
              <a:t>1 in 10</a:t>
            </a:r>
            <a:endParaRPr lang="en-US" sz="3600" dirty="0"/>
          </a:p>
        </p:txBody>
      </p:sp>
      <p:sp>
        <p:nvSpPr>
          <p:cNvPr id="7" name="Text 5"/>
          <p:cNvSpPr/>
          <p:nvPr/>
        </p:nvSpPr>
        <p:spPr>
          <a:xfrm>
            <a:off x="1066800" y="2892971"/>
            <a:ext cx="2964993" cy="118105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3E3DF"/>
                </a:solidFill>
                <a:latin typeface="Plus Jakarta Sans" pitchFamily="34" charset="0"/>
                <a:ea typeface="Plus Jakarta Sans" pitchFamily="34" charset="-122"/>
                <a:cs typeface="Plus Jakarta Sans" pitchFamily="34" charset="-120"/>
              </a:rPr>
              <a:t>medicines in low- and middle-income countries is substandard or falsified (WHO). In Bangladesh, ~€172 M of fakes are in circulation at any time.</a:t>
            </a:r>
            <a:endParaRPr lang="en-US" sz="1300" dirty="0"/>
          </a:p>
        </p:txBody>
      </p:sp>
      <p:sp>
        <p:nvSpPr>
          <p:cNvPr id="8" name="Shape 6"/>
          <p:cNvSpPr/>
          <p:nvPr/>
        </p:nvSpPr>
        <p:spPr>
          <a:xfrm>
            <a:off x="4402634" y="1765250"/>
            <a:ext cx="3386683" cy="2537371"/>
          </a:xfrm>
          <a:prstGeom prst="roundRect">
            <a:avLst>
              <a:gd name="adj" fmla="val 6006"/>
            </a:avLst>
          </a:prstGeom>
          <a:solidFill>
            <a:srgbClr val="14524D"/>
          </a:solidFill>
          <a:ln/>
        </p:spPr>
        <p:txBody>
          <a:bodyPr/>
          <a:lstStyle/>
          <a:p>
            <a:endParaRPr lang="en-US"/>
          </a:p>
        </p:txBody>
      </p:sp>
      <p:sp>
        <p:nvSpPr>
          <p:cNvPr id="9" name="Text 7"/>
          <p:cNvSpPr/>
          <p:nvPr/>
        </p:nvSpPr>
        <p:spPr>
          <a:xfrm>
            <a:off x="4656634" y="2019250"/>
            <a:ext cx="296504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D3B4"/>
                </a:solidFill>
                <a:latin typeface="Plus Jakarta Sans" pitchFamily="34" charset="0"/>
                <a:ea typeface="Plus Jakarta Sans" pitchFamily="34" charset="-122"/>
                <a:cs typeface="Plus Jakarta Sans" pitchFamily="34" charset="-120"/>
              </a:rPr>
              <a:t>PROVEN FIX</a:t>
            </a:r>
            <a:endParaRPr lang="en-US" sz="1200" dirty="0"/>
          </a:p>
        </p:txBody>
      </p:sp>
      <p:sp>
        <p:nvSpPr>
          <p:cNvPr id="10" name="Text 8"/>
          <p:cNvSpPr/>
          <p:nvPr/>
        </p:nvSpPr>
        <p:spPr>
          <a:xfrm>
            <a:off x="4656634" y="2334171"/>
            <a:ext cx="2965044"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FFFFFF"/>
                </a:solidFill>
                <a:latin typeface="Plus Jakarta Sans" pitchFamily="34" charset="0"/>
                <a:ea typeface="Plus Jakarta Sans" pitchFamily="34" charset="-122"/>
                <a:cs typeface="Plus Jakarta Sans" pitchFamily="34" charset="-120"/>
              </a:rPr>
              <a:t>Since 2019</a:t>
            </a:r>
            <a:endParaRPr lang="en-US" sz="3600" dirty="0"/>
          </a:p>
        </p:txBody>
      </p:sp>
      <p:sp>
        <p:nvSpPr>
          <p:cNvPr id="11" name="Text 9"/>
          <p:cNvSpPr/>
          <p:nvPr/>
        </p:nvSpPr>
        <p:spPr>
          <a:xfrm>
            <a:off x="4656634" y="2892971"/>
            <a:ext cx="2965044" cy="118105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3E3DF"/>
                </a:solidFill>
                <a:latin typeface="Plus Jakarta Sans" pitchFamily="34" charset="0"/>
                <a:ea typeface="Plus Jakarta Sans" pitchFamily="34" charset="-122"/>
                <a:cs typeface="Plus Jakarta Sans" pitchFamily="34" charset="-120"/>
              </a:rPr>
              <a:t>Irish pharmacists cancel each prescription pack when they dispense it. The logic works. Emerging markets lack a neutral gate to run it.</a:t>
            </a:r>
            <a:endParaRPr lang="en-US" sz="1300" dirty="0"/>
          </a:p>
        </p:txBody>
      </p:sp>
      <p:sp>
        <p:nvSpPr>
          <p:cNvPr id="12" name="Shape 10"/>
          <p:cNvSpPr/>
          <p:nvPr/>
        </p:nvSpPr>
        <p:spPr>
          <a:xfrm>
            <a:off x="7992517" y="1765250"/>
            <a:ext cx="3386683" cy="2537371"/>
          </a:xfrm>
          <a:prstGeom prst="roundRect">
            <a:avLst>
              <a:gd name="adj" fmla="val 6006"/>
            </a:avLst>
          </a:prstGeom>
          <a:solidFill>
            <a:srgbClr val="14524D"/>
          </a:solidFill>
          <a:ln/>
        </p:spPr>
        <p:txBody>
          <a:bodyPr/>
          <a:lstStyle/>
          <a:p>
            <a:endParaRPr lang="en-US"/>
          </a:p>
        </p:txBody>
      </p:sp>
      <p:sp>
        <p:nvSpPr>
          <p:cNvPr id="13" name="Text 11"/>
          <p:cNvSpPr/>
          <p:nvPr/>
        </p:nvSpPr>
        <p:spPr>
          <a:xfrm>
            <a:off x="8246517" y="2019250"/>
            <a:ext cx="296504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D3B4"/>
                </a:solidFill>
                <a:latin typeface="Plus Jakarta Sans" pitchFamily="34" charset="0"/>
                <a:ea typeface="Plus Jakarta Sans" pitchFamily="34" charset="-122"/>
                <a:cs typeface="Plus Jakarta Sans" pitchFamily="34" charset="-120"/>
              </a:rPr>
              <a:t>WORKING BUILD</a:t>
            </a:r>
            <a:endParaRPr lang="en-US" sz="1200" dirty="0"/>
          </a:p>
        </p:txBody>
      </p:sp>
      <p:sp>
        <p:nvSpPr>
          <p:cNvPr id="14" name="Text 12"/>
          <p:cNvSpPr/>
          <p:nvPr/>
        </p:nvSpPr>
        <p:spPr>
          <a:xfrm>
            <a:off x="8246517" y="2334171"/>
            <a:ext cx="2965044"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7FDCA9"/>
                </a:solidFill>
                <a:latin typeface="Plus Jakarta Sans" pitchFamily="34" charset="0"/>
                <a:ea typeface="Plus Jakarta Sans" pitchFamily="34" charset="-122"/>
                <a:cs typeface="Plus Jakarta Sans" pitchFamily="34" charset="-120"/>
              </a:rPr>
              <a:t>Live</a:t>
            </a:r>
            <a:endParaRPr lang="en-US" sz="3600" dirty="0"/>
          </a:p>
        </p:txBody>
      </p:sp>
      <p:sp>
        <p:nvSpPr>
          <p:cNvPr id="15" name="Text 13"/>
          <p:cNvSpPr/>
          <p:nvPr/>
        </p:nvSpPr>
        <p:spPr>
          <a:xfrm>
            <a:off x="8246517" y="2892971"/>
            <a:ext cx="2965044" cy="9499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3E3DF"/>
                </a:solidFill>
                <a:latin typeface="Plus Jakarta Sans" pitchFamily="34" charset="0"/>
                <a:ea typeface="Plus Jakarta Sans" pitchFamily="34" charset="-122"/>
                <a:cs typeface="Plus Jakarta Sans" pitchFamily="34" charset="-120"/>
              </a:rPr>
              <a:t>mint, transfer and dispense run on Solana devnet. The program itself rejects copies, at ~€0.0016 per pack.</a:t>
            </a:r>
            <a:endParaRPr lang="en-US" sz="1300" dirty="0"/>
          </a:p>
        </p:txBody>
      </p:sp>
      <p:sp>
        <p:nvSpPr>
          <p:cNvPr id="16" name="Text 14"/>
          <p:cNvSpPr/>
          <p:nvPr/>
        </p:nvSpPr>
        <p:spPr>
          <a:xfrm>
            <a:off x="812800" y="4607421"/>
            <a:ext cx="3513117" cy="726380"/>
          </a:xfrm>
          <a:prstGeom prst="rect">
            <a:avLst/>
          </a:prstGeom>
          <a:noFill/>
          <a:ln/>
        </p:spPr>
        <p:txBody>
          <a:bodyPr wrap="square" lIns="0" tIns="0" rIns="0" bIns="0" rtlCol="0" anchor="t">
            <a:normAutofit/>
          </a:bodyPr>
          <a:lstStyle/>
          <a:p>
            <a:pPr marL="0" indent="0" algn="l">
              <a:lnSpc>
                <a:spcPts val="2760"/>
              </a:lnSpc>
              <a:buNone/>
            </a:pPr>
            <a:r>
              <a:rPr lang="en-US" sz="2400" b="1" dirty="0">
                <a:solidFill>
                  <a:srgbClr val="F1F6F4"/>
                </a:solidFill>
                <a:latin typeface="Plus Jakarta Sans" pitchFamily="34" charset="0"/>
                <a:ea typeface="Plus Jakarta Sans" pitchFamily="34" charset="-122"/>
                <a:cs typeface="Plus Jakarta Sans" pitchFamily="34" charset="-120"/>
              </a:rPr>
              <a:t>Every medicine pack,</a:t>
            </a:r>
            <a:endParaRPr lang="en-US" sz="2400" dirty="0"/>
          </a:p>
          <a:p>
            <a:pPr marL="0" indent="0" algn="l">
              <a:lnSpc>
                <a:spcPts val="2760"/>
              </a:lnSpc>
              <a:buNone/>
            </a:pPr>
            <a:r>
              <a:rPr lang="en-US" sz="2400" b="1" dirty="0">
                <a:solidFill>
                  <a:srgbClr val="F1F6F4"/>
                </a:solidFill>
                <a:latin typeface="Plus Jakarta Sans" pitchFamily="34" charset="0"/>
                <a:ea typeface="Plus Jakarta Sans" pitchFamily="34" charset="-122"/>
                <a:cs typeface="Plus Jakarta Sans" pitchFamily="34" charset="-120"/>
              </a:rPr>
              <a:t>verifiable in </a:t>
            </a:r>
            <a:r>
              <a:rPr lang="en-US" sz="2400" b="1" dirty="0">
                <a:solidFill>
                  <a:srgbClr val="7FDCA9"/>
                </a:solidFill>
                <a:latin typeface="Plus Jakarta Sans" pitchFamily="34" charset="0"/>
                <a:ea typeface="Plus Jakarta Sans" pitchFamily="34" charset="-122"/>
                <a:cs typeface="Plus Jakarta Sans" pitchFamily="34" charset="-120"/>
              </a:rPr>
              <a:t>5 seconds</a:t>
            </a:r>
            <a:r>
              <a:rPr lang="en-US" sz="2400" b="1" dirty="0">
                <a:solidFill>
                  <a:srgbClr val="F1F6F4"/>
                </a:solidFill>
                <a:latin typeface="Plus Jakarta Sans" pitchFamily="34" charset="0"/>
                <a:ea typeface="Plus Jakarta Sans" pitchFamily="34" charset="-122"/>
                <a:cs typeface="Plus Jakarta Sans" pitchFamily="34" charset="-120"/>
              </a:rPr>
              <a:t>.</a:t>
            </a:r>
            <a:endParaRPr lang="en-US" sz="2400" dirty="0"/>
          </a:p>
        </p:txBody>
      </p:sp>
      <p:sp>
        <p:nvSpPr>
          <p:cNvPr id="17" name="Text 15"/>
          <p:cNvSpPr/>
          <p:nvPr/>
        </p:nvSpPr>
        <p:spPr>
          <a:xfrm>
            <a:off x="9873159" y="4881711"/>
            <a:ext cx="1556841"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8FD3B4"/>
                </a:solidFill>
                <a:latin typeface="Plus Jakarta Sans" pitchFamily="34" charset="0"/>
                <a:ea typeface="Plus Jakarta Sans" pitchFamily="34" charset="-122"/>
                <a:cs typeface="Plus Jakarta Sans" pitchFamily="34" charset="-120"/>
              </a:rPr>
              <a:t>Thank you</a:t>
            </a:r>
            <a:endParaRPr lang="en-US" sz="2400" dirty="0"/>
          </a:p>
        </p:txBody>
      </p:sp>
      <p:sp>
        <p:nvSpPr>
          <p:cNvPr id="18" name="Text 16"/>
          <p:cNvSpPr/>
          <p:nvPr/>
        </p:nvSpPr>
        <p:spPr>
          <a:xfrm>
            <a:off x="812800" y="6238280"/>
            <a:ext cx="689205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9A4"/>
                </a:solidFill>
                <a:latin typeface="Plus Jakarta Sans" pitchFamily="34" charset="0"/>
                <a:ea typeface="Plus Jakarta Sans" pitchFamily="34" charset="-122"/>
                <a:cs typeface="Plus Jakarta Sans" pitchFamily="34" charset="-120"/>
              </a:rPr>
              <a:t>Sadman Araf · Tarannum Ahammed Noushin · Md Asif Rahman · Mohammad Fahim Haque · DCU</a:t>
            </a:r>
            <a:endParaRPr lang="en-US" sz="1200" dirty="0"/>
          </a:p>
        </p:txBody>
      </p:sp>
      <p:sp>
        <p:nvSpPr>
          <p:cNvPr id="19" name="Text 17"/>
          <p:cNvSpPr/>
          <p:nvPr/>
        </p:nvSpPr>
        <p:spPr>
          <a:xfrm>
            <a:off x="11211074" y="6238280"/>
            <a:ext cx="2189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9A4"/>
                </a:solidFill>
                <a:latin typeface="Plus Jakarta Sans" pitchFamily="34" charset="0"/>
                <a:ea typeface="Plus Jakarta Sans" pitchFamily="34" charset="-122"/>
                <a:cs typeface="Plus Jakarta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3D3A"/>
        </a:solidFill>
        <a:effectLst/>
      </p:bgPr>
    </p:bg>
    <p:spTree>
      <p:nvGrpSpPr>
        <p:cNvPr id="1" name=""/>
        <p:cNvGrpSpPr/>
        <p:nvPr/>
      </p:nvGrpSpPr>
      <p:grpSpPr>
        <a:xfrm>
          <a:off x="0" y="0"/>
          <a:ext cx="0" cy="0"/>
          <a:chOff x="0" y="0"/>
          <a:chExt cx="0" cy="0"/>
        </a:xfrm>
      </p:grpSpPr>
      <p:sp>
        <p:nvSpPr>
          <p:cNvPr id="2" name="Text 0"/>
          <p:cNvSpPr/>
          <p:nvPr/>
        </p:nvSpPr>
        <p:spPr>
          <a:xfrm>
            <a:off x="812800" y="228094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FD3B4"/>
                </a:solidFill>
                <a:latin typeface="Plus Jakarta Sans" pitchFamily="34" charset="0"/>
                <a:ea typeface="Plus Jakarta Sans" pitchFamily="34" charset="-122"/>
                <a:cs typeface="Plus Jakarta Sans" pitchFamily="34" charset="-120"/>
              </a:rPr>
              <a:t>BACKUP · Q&amp;A ONLY</a:t>
            </a:r>
            <a:endParaRPr lang="en-US" sz="1200" dirty="0"/>
          </a:p>
        </p:txBody>
      </p:sp>
      <p:sp>
        <p:nvSpPr>
          <p:cNvPr id="3" name="Text 1"/>
          <p:cNvSpPr/>
          <p:nvPr/>
        </p:nvSpPr>
        <p:spPr>
          <a:xfrm>
            <a:off x="812800" y="2697460"/>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kern="0" spc="-150" dirty="0">
                <a:solidFill>
                  <a:srgbClr val="F1F6F4"/>
                </a:solidFill>
                <a:latin typeface="Plus Jakarta Sans" pitchFamily="34" charset="0"/>
                <a:ea typeface="Plus Jakarta Sans" pitchFamily="34" charset="-122"/>
                <a:cs typeface="Plus Jakarta Sans" pitchFamily="34" charset="-120"/>
              </a:rPr>
              <a:t>Appendix</a:t>
            </a:r>
            <a:endParaRPr lang="en-US" sz="6000" dirty="0"/>
          </a:p>
        </p:txBody>
      </p:sp>
      <p:sp>
        <p:nvSpPr>
          <p:cNvPr id="4" name="Text 2"/>
          <p:cNvSpPr/>
          <p:nvPr/>
        </p:nvSpPr>
        <p:spPr>
          <a:xfrm>
            <a:off x="812800" y="3662660"/>
            <a:ext cx="10883392" cy="939800"/>
          </a:xfrm>
          <a:prstGeom prst="rect">
            <a:avLst/>
          </a:prstGeom>
          <a:noFill/>
          <a:ln/>
        </p:spPr>
        <p:txBody>
          <a:bodyPr wrap="square" lIns="0" tIns="0" rIns="0" bIns="0" rtlCol="0" anchor="t">
            <a:normAutofit/>
          </a:bodyPr>
          <a:lstStyle/>
          <a:p>
            <a:pPr marL="0" indent="0" algn="l">
              <a:lnSpc>
                <a:spcPts val="2400"/>
              </a:lnSpc>
              <a:buNone/>
            </a:pPr>
            <a:r>
              <a:rPr lang="en-US" sz="1500" dirty="0">
                <a:solidFill>
                  <a:srgbClr val="B9CFCA"/>
                </a:solidFill>
                <a:latin typeface="Plus Jakarta Sans" pitchFamily="34" charset="0"/>
                <a:ea typeface="Plus Jakarta Sans" pitchFamily="34" charset="-122"/>
                <a:cs typeface="Plus Jakarta Sans" pitchFamily="34" charset="-120"/>
              </a:rPr>
              <a:t>A1 Why blockchain · A2 Clone detection · A3 Risks · A4 Regulatory fit</a:t>
            </a:r>
            <a:endParaRPr lang="en-US" sz="1500" dirty="0"/>
          </a:p>
          <a:p>
            <a:pPr marL="0" indent="0" algn="l">
              <a:lnSpc>
                <a:spcPts val="2400"/>
              </a:lnSpc>
              <a:buNone/>
            </a:pPr>
            <a:r>
              <a:rPr lang="en-US" sz="1500" dirty="0">
                <a:solidFill>
                  <a:srgbClr val="B9CFCA"/>
                </a:solidFill>
                <a:latin typeface="Plus Jakarta Sans" pitchFamily="34" charset="0"/>
                <a:ea typeface="Plus Jakarta Sans" pitchFamily="34" charset="-122"/>
                <a:cs typeface="Plus Jakarta Sans" pitchFamily="34" charset="-120"/>
              </a:rPr>
              <a:t>A5 Cost at scale · A6 Business model detail · A7 Sources · A8 “Isn't this what Europe does?”</a:t>
            </a:r>
            <a:endParaRPr lang="en-US" sz="1500" dirty="0"/>
          </a:p>
          <a:p>
            <a:pPr marL="0" indent="0" algn="l">
              <a:lnSpc>
                <a:spcPts val="2400"/>
              </a:lnSpc>
              <a:buNone/>
            </a:pPr>
            <a:r>
              <a:rPr lang="en-US" sz="1500" dirty="0">
                <a:solidFill>
                  <a:srgbClr val="B9CFCA"/>
                </a:solidFill>
                <a:latin typeface="Plus Jakarta Sans" pitchFamily="34" charset="0"/>
                <a:ea typeface="Plus Jakarta Sans" pitchFamily="34" charset="-122"/>
                <a:cs typeface="Plus Jakarta Sans" pitchFamily="34" charset="-120"/>
              </a:rPr>
              <a:t>A9 Architecture: who talks to what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5D57"/>
                </a:solidFill>
                <a:latin typeface="Plus Jakarta Sans" pitchFamily="34" charset="0"/>
                <a:ea typeface="Plus Jakarta Sans" pitchFamily="34" charset="-122"/>
                <a:cs typeface="Plus Jakarta Sans" pitchFamily="34" charset="-120"/>
              </a:rPr>
              <a:t>A1 · BACKUP</a:t>
            </a:r>
            <a:endParaRPr lang="en-US" sz="1200" dirty="0"/>
          </a:p>
        </p:txBody>
      </p:sp>
      <p:sp>
        <p:nvSpPr>
          <p:cNvPr id="3" name="Text 1"/>
          <p:cNvSpPr/>
          <p:nvPr/>
        </p:nvSpPr>
        <p:spPr>
          <a:xfrm>
            <a:off x="812800" y="1026120"/>
            <a:ext cx="10883392" cy="430758"/>
          </a:xfrm>
          <a:prstGeom prst="rect">
            <a:avLst/>
          </a:prstGeom>
          <a:noFill/>
          <a:ln/>
        </p:spPr>
        <p:txBody>
          <a:bodyPr wrap="square" lIns="0" tIns="0" rIns="0" bIns="0" rtlCol="0" anchor="t">
            <a:normAutofit/>
          </a:bodyPr>
          <a:lstStyle/>
          <a:p>
            <a:pPr marL="0" indent="0" algn="l">
              <a:lnSpc>
                <a:spcPts val="3192"/>
              </a:lnSpc>
              <a:buNone/>
            </a:pPr>
            <a:r>
              <a:rPr lang="en-US" sz="2800" b="1" kern="0" spc="-50" dirty="0">
                <a:solidFill>
                  <a:srgbClr val="12201E"/>
                </a:solidFill>
                <a:latin typeface="Plus Jakarta Sans" pitchFamily="34" charset="0"/>
                <a:ea typeface="Plus Jakarta Sans" pitchFamily="34" charset="-122"/>
                <a:cs typeface="Plus Jakarta Sans" pitchFamily="34" charset="-120"/>
              </a:rPr>
              <a:t>Why blockchain, not a database?</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98179"/>
          <a:ext cx="10553700" cy="2834580"/>
        </p:xfrm>
        <a:graphic>
          <a:graphicData uri="http://schemas.openxmlformats.org/drawingml/2006/table">
            <a:tbl>
              <a:tblPr/>
              <a:tblGrid>
                <a:gridCol w="3517900">
                  <a:extLst>
                    <a:ext uri="{9D8B030D-6E8A-4147-A177-3AD203B41FA5}">
                      <a16:colId xmlns:a16="http://schemas.microsoft.com/office/drawing/2014/main" val="20000"/>
                    </a:ext>
                  </a:extLst>
                </a:gridCol>
                <a:gridCol w="3517900">
                  <a:extLst>
                    <a:ext uri="{9D8B030D-6E8A-4147-A177-3AD203B41FA5}">
                      <a16:colId xmlns:a16="http://schemas.microsoft.com/office/drawing/2014/main" val="20001"/>
                    </a:ext>
                  </a:extLst>
                </a:gridCol>
                <a:gridCol w="3517900">
                  <a:extLst>
                    <a:ext uri="{9D8B030D-6E8A-4147-A177-3AD203B41FA5}">
                      <a16:colId xmlns:a16="http://schemas.microsoft.com/office/drawing/2014/main" val="20002"/>
                    </a:ext>
                  </a:extLst>
                </a:gridCol>
              </a:tblGrid>
              <a:tr h="472430">
                <a:tc>
                  <a:txBody>
                    <a:bodyPr/>
                    <a:lstStyle/>
                    <a:p>
                      <a:pPr marL="0" indent="0">
                        <a:lnSpc>
                          <a:spcPts val="1820"/>
                        </a:lnSpc>
                        <a:buNone/>
                      </a:pPr>
                      <a:r>
                        <a:rPr lang="en-US" sz="1300" b="1" dirty="0">
                          <a:solidFill>
                            <a:srgbClr val="FFFFFF"/>
                          </a:solidFill>
                          <a:latin typeface="Plus Jakarta Sans" pitchFamily="34" charset="0"/>
                          <a:ea typeface="Plus Jakarta Sans" pitchFamily="34" charset="-122"/>
                          <a:cs typeface="Plus Jakarta Sans" pitchFamily="34" charset="-120"/>
                        </a:rPr>
                        <a:t>Question</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B5B7B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B5B7B6"/>
                      </a:solidFill>
                      <a:prstDash val="solid"/>
                      <a:round/>
                      <a:headEnd type="none" w="med" len="med"/>
                      <a:tailEnd type="none" w="med" len="med"/>
                    </a:lnB>
                    <a:solidFill>
                      <a:srgbClr val="E3E5E4"/>
                    </a:solidFill>
                  </a:tcPr>
                </a:tc>
                <a:tc>
                  <a:txBody>
                    <a:bodyPr/>
                    <a:lstStyle/>
                    <a:p>
                      <a:pPr marL="0" indent="0">
                        <a:lnSpc>
                          <a:spcPts val="1820"/>
                        </a:lnSpc>
                        <a:buNone/>
                      </a:pPr>
                      <a:r>
                        <a:rPr lang="en-US" sz="1300" b="1" dirty="0">
                          <a:solidFill>
                            <a:srgbClr val="FFFFFF"/>
                          </a:solidFill>
                          <a:latin typeface="Plus Jakarta Sans" pitchFamily="34" charset="0"/>
                          <a:ea typeface="Plus Jakarta Sans" pitchFamily="34" charset="-122"/>
                          <a:cs typeface="Plus Jakarta Sans" pitchFamily="34" charset="-120"/>
                        </a:rPr>
                        <a:t>Central database</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B5B7B6"/>
                      </a:solidFill>
                      <a:prstDash val="solid"/>
                      <a:round/>
                      <a:headEnd type="none" w="med" len="med"/>
                      <a:tailEnd type="none" w="med" len="med"/>
                    </a:lnL>
                    <a:lnR w="12700" cap="flat" cmpd="sng" algn="ctr">
                      <a:solidFill>
                        <a:srgbClr val="B5B7B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B5B7B6"/>
                      </a:solidFill>
                      <a:prstDash val="solid"/>
                      <a:round/>
                      <a:headEnd type="none" w="med" len="med"/>
                      <a:tailEnd type="none" w="med" len="med"/>
                    </a:lnB>
                    <a:solidFill>
                      <a:srgbClr val="E3E5E4"/>
                    </a:solidFill>
                  </a:tcPr>
                </a:tc>
                <a:tc>
                  <a:txBody>
                    <a:bodyPr/>
                    <a:lstStyle/>
                    <a:p>
                      <a:pPr marL="0" indent="0">
                        <a:lnSpc>
                          <a:spcPts val="1820"/>
                        </a:lnSpc>
                        <a:buNone/>
                      </a:pPr>
                      <a:r>
                        <a:rPr lang="en-US" sz="1300" b="1" dirty="0">
                          <a:solidFill>
                            <a:srgbClr val="FFFFFF"/>
                          </a:solidFill>
                          <a:latin typeface="Plus Jakarta Sans" pitchFamily="34" charset="0"/>
                          <a:ea typeface="Plus Jakarta Sans" pitchFamily="34" charset="-122"/>
                          <a:cs typeface="Plus Jakarta Sans" pitchFamily="34" charset="-120"/>
                        </a:rPr>
                        <a:t>MedTrace on Solana</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B5B7B6"/>
                      </a:solidFill>
                      <a:prstDash val="solid"/>
                      <a:round/>
                      <a:headEnd type="none" w="med" len="med"/>
                      <a:tailEnd type="none" w="med" len="med"/>
                    </a:lnL>
                    <a:lnR w="12700" cap="flat" cmpd="sng" algn="ctr">
                      <a:solidFill>
                        <a:srgbClr val="B5B7B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B5B7B6"/>
                      </a:solidFill>
                      <a:prstDash val="solid"/>
                      <a:round/>
                      <a:headEnd type="none" w="med" len="med"/>
                      <a:tailEnd type="none" w="med" len="med"/>
                    </a:lnB>
                    <a:solidFill>
                      <a:srgbClr val="E3E5E4"/>
                    </a:solidFill>
                  </a:tcPr>
                </a:tc>
                <a:extLst>
                  <a:ext uri="{0D108BD9-81ED-4DB2-BD59-A6C34878D82A}">
                    <a16:rowId xmlns:a16="http://schemas.microsoft.com/office/drawing/2014/main" val="10000"/>
                  </a:ext>
                </a:extLst>
              </a:tr>
              <a:tr h="472430">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Who controls it?</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B5B7B6"/>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One operator everyone must trust</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B5B7B6"/>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No single party; rules live in the program</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B5B7B6"/>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1"/>
                  </a:ext>
                </a:extLst>
              </a:tr>
              <a:tr h="472430">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Can history be edited?</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Yes, by whoever holds admin</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No — signed, append-only trail</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2"/>
                  </a:ext>
                </a:extLst>
              </a:tr>
              <a:tr h="472430">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Duplicate serials?</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Blocked only if the operator is honest</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Impossible: one record per serial</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3"/>
                  </a:ext>
                </a:extLst>
              </a:tr>
              <a:tr h="472430">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229+ manufacturers</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229 apps or 229 integrations</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One neutral, shared record</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4"/>
                  </a:ext>
                </a:extLst>
              </a:tr>
              <a:tr h="472430">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Regulator access</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On request from the operator</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Read the audit trail any time</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4786759"/>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201E"/>
                </a:solidFill>
                <a:latin typeface="Plus Jakarta Sans" pitchFamily="34" charset="0"/>
                <a:ea typeface="Plus Jakarta Sans" pitchFamily="34" charset="-122"/>
                <a:cs typeface="Plus Jakarta Sans" pitchFamily="34" charset="-120"/>
              </a:rPr>
              <a:t>Bottom line:</a:t>
            </a:r>
            <a:r>
              <a:rPr lang="en-US" sz="1500" dirty="0">
                <a:solidFill>
                  <a:srgbClr val="12201E"/>
                </a:solidFill>
                <a:latin typeface="Plus Jakarta Sans" pitchFamily="34" charset="0"/>
                <a:ea typeface="Plus Jakarta Sans" pitchFamily="34" charset="-122"/>
                <a:cs typeface="Plus Jakarta Sans" pitchFamily="34" charset="-120"/>
              </a:rPr>
              <a:t> multi-party, low-trust — the one setting where a neutral ledger beats a database.</a:t>
            </a:r>
            <a:endParaRPr lang="en-US" sz="1500" dirty="0"/>
          </a:p>
        </p:txBody>
      </p:sp>
      <p:sp>
        <p:nvSpPr>
          <p:cNvPr id="6" name="Text 3"/>
          <p:cNvSpPr/>
          <p:nvPr/>
        </p:nvSpPr>
        <p:spPr>
          <a:xfrm>
            <a:off x="11223278" y="6238280"/>
            <a:ext cx="20672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A1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5D57"/>
                </a:solidFill>
                <a:latin typeface="Plus Jakarta Sans" pitchFamily="34" charset="0"/>
                <a:ea typeface="Plus Jakarta Sans" pitchFamily="34" charset="-122"/>
                <a:cs typeface="Plus Jakarta Sans" pitchFamily="34" charset="-120"/>
              </a:rPr>
              <a:t>A2 · BACKUP</a:t>
            </a:r>
            <a:endParaRPr lang="en-US" sz="1200" dirty="0"/>
          </a:p>
        </p:txBody>
      </p:sp>
      <p:sp>
        <p:nvSpPr>
          <p:cNvPr id="3" name="Text 1"/>
          <p:cNvSpPr/>
          <p:nvPr/>
        </p:nvSpPr>
        <p:spPr>
          <a:xfrm>
            <a:off x="812800" y="1026120"/>
            <a:ext cx="10883392" cy="430758"/>
          </a:xfrm>
          <a:prstGeom prst="rect">
            <a:avLst/>
          </a:prstGeom>
          <a:noFill/>
          <a:ln/>
        </p:spPr>
        <p:txBody>
          <a:bodyPr wrap="square" lIns="0" tIns="0" rIns="0" bIns="0" rtlCol="0" anchor="t">
            <a:normAutofit/>
          </a:bodyPr>
          <a:lstStyle/>
          <a:p>
            <a:pPr marL="0" indent="0" algn="l">
              <a:lnSpc>
                <a:spcPts val="3192"/>
              </a:lnSpc>
              <a:buNone/>
            </a:pPr>
            <a:r>
              <a:rPr lang="en-US" sz="2800" b="1" kern="0" spc="-50" dirty="0">
                <a:solidFill>
                  <a:srgbClr val="12201E"/>
                </a:solidFill>
                <a:latin typeface="Plus Jakarta Sans" pitchFamily="34" charset="0"/>
                <a:ea typeface="Plus Jakarta Sans" pitchFamily="34" charset="-122"/>
                <a:cs typeface="Plus Jakarta Sans" pitchFamily="34" charset="-120"/>
              </a:rPr>
              <a:t>What the patient sees: one function, five verdicts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72779"/>
          <a:ext cx="10553700" cy="3144440"/>
        </p:xfrm>
        <a:graphic>
          <a:graphicData uri="http://schemas.openxmlformats.org/drawingml/2006/table">
            <a:tbl>
              <a:tblPr/>
              <a:tblGrid>
                <a:gridCol w="3517900">
                  <a:extLst>
                    <a:ext uri="{9D8B030D-6E8A-4147-A177-3AD203B41FA5}">
                      <a16:colId xmlns:a16="http://schemas.microsoft.com/office/drawing/2014/main" val="20000"/>
                    </a:ext>
                  </a:extLst>
                </a:gridCol>
                <a:gridCol w="3517900">
                  <a:extLst>
                    <a:ext uri="{9D8B030D-6E8A-4147-A177-3AD203B41FA5}">
                      <a16:colId xmlns:a16="http://schemas.microsoft.com/office/drawing/2014/main" val="20001"/>
                    </a:ext>
                  </a:extLst>
                </a:gridCol>
                <a:gridCol w="3517900">
                  <a:extLst>
                    <a:ext uri="{9D8B030D-6E8A-4147-A177-3AD203B41FA5}">
                      <a16:colId xmlns:a16="http://schemas.microsoft.com/office/drawing/2014/main" val="20002"/>
                    </a:ext>
                  </a:extLst>
                </a:gridCol>
              </a:tblGrid>
              <a:tr h="447030">
                <a:tc>
                  <a:txBody>
                    <a:bodyPr/>
                    <a:lstStyle/>
                    <a:p>
                      <a:pPr marL="0" indent="0">
                        <a:lnSpc>
                          <a:spcPts val="1820"/>
                        </a:lnSpc>
                        <a:buNone/>
                      </a:pPr>
                      <a:r>
                        <a:rPr lang="en-US" sz="1300" b="1" dirty="0">
                          <a:solidFill>
                            <a:srgbClr val="FFFFFF"/>
                          </a:solidFill>
                          <a:latin typeface="Plus Jakarta Sans" pitchFamily="34" charset="0"/>
                          <a:ea typeface="Plus Jakarta Sans" pitchFamily="34" charset="-122"/>
                          <a:cs typeface="Plus Jakarta Sans" pitchFamily="34" charset="-120"/>
                        </a:rPr>
                        <a:t>#</a:t>
                      </a:r>
                      <a:endParaRPr lang="en-US" sz="1300"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B5B7B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B5B7B6"/>
                      </a:solidFill>
                      <a:prstDash val="solid"/>
                      <a:round/>
                      <a:headEnd type="none" w="med" len="med"/>
                      <a:tailEnd type="none" w="med" len="med"/>
                    </a:lnB>
                    <a:solidFill>
                      <a:srgbClr val="E3E5E4"/>
                    </a:solidFill>
                  </a:tcPr>
                </a:tc>
                <a:tc>
                  <a:txBody>
                    <a:bodyPr/>
                    <a:lstStyle/>
                    <a:p>
                      <a:pPr marL="0" indent="0">
                        <a:lnSpc>
                          <a:spcPts val="1820"/>
                        </a:lnSpc>
                        <a:buNone/>
                      </a:pPr>
                      <a:r>
                        <a:rPr lang="en-US" sz="1300" b="1" dirty="0">
                          <a:solidFill>
                            <a:srgbClr val="FFFFFF"/>
                          </a:solidFill>
                          <a:latin typeface="Plus Jakarta Sans" pitchFamily="34" charset="0"/>
                          <a:ea typeface="Plus Jakarta Sans" pitchFamily="34" charset="-122"/>
                          <a:cs typeface="Plus Jakarta Sans" pitchFamily="34" charset="-120"/>
                        </a:rPr>
                        <a:t>Check on scan of /verify/SQ-000123</a:t>
                      </a:r>
                      <a:endParaRPr lang="en-US" sz="1300" dirty="0">
                        <a:latin typeface="Plus Jakarta Sans" charset="0"/>
                        <a:ea typeface="Plus Jakarta Sans" charset="0"/>
                        <a:cs typeface="Plus Jakarta Sans" charset="0"/>
                      </a:endParaRPr>
                    </a:p>
                  </a:txBody>
                  <a:tcPr marL="152400" marR="152400" marT="101600" marB="101600">
                    <a:lnL w="12700" cap="flat" cmpd="sng" algn="ctr">
                      <a:solidFill>
                        <a:srgbClr val="B5B7B6"/>
                      </a:solidFill>
                      <a:prstDash val="solid"/>
                      <a:round/>
                      <a:headEnd type="none" w="med" len="med"/>
                      <a:tailEnd type="none" w="med" len="med"/>
                    </a:lnL>
                    <a:lnR w="12700" cap="flat" cmpd="sng" algn="ctr">
                      <a:solidFill>
                        <a:srgbClr val="B5B7B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B5B7B6"/>
                      </a:solidFill>
                      <a:prstDash val="solid"/>
                      <a:round/>
                      <a:headEnd type="none" w="med" len="med"/>
                      <a:tailEnd type="none" w="med" len="med"/>
                    </a:lnB>
                    <a:solidFill>
                      <a:srgbClr val="E3E5E4"/>
                    </a:solidFill>
                  </a:tcPr>
                </a:tc>
                <a:tc>
                  <a:txBody>
                    <a:bodyPr/>
                    <a:lstStyle/>
                    <a:p>
                      <a:pPr marL="0" indent="0">
                        <a:lnSpc>
                          <a:spcPts val="1820"/>
                        </a:lnSpc>
                        <a:buNone/>
                      </a:pPr>
                      <a:r>
                        <a:rPr lang="en-US" sz="1300" b="1" dirty="0">
                          <a:solidFill>
                            <a:srgbClr val="FFFFFF"/>
                          </a:solidFill>
                          <a:latin typeface="Plus Jakarta Sans" pitchFamily="34" charset="0"/>
                          <a:ea typeface="Plus Jakarta Sans" pitchFamily="34" charset="-122"/>
                          <a:cs typeface="Plus Jakarta Sans" pitchFamily="34" charset="-120"/>
                        </a:rPr>
                        <a:t>Verdict</a:t>
                      </a:r>
                      <a:endParaRPr lang="en-US" sz="1300" dirty="0">
                        <a:latin typeface="Plus Jakarta Sans" charset="0"/>
                        <a:ea typeface="Plus Jakarta Sans" charset="0"/>
                        <a:cs typeface="Plus Jakarta Sans" charset="0"/>
                      </a:endParaRPr>
                    </a:p>
                  </a:txBody>
                  <a:tcPr marL="152400" marR="152400" marT="101600" marB="101600">
                    <a:lnL w="12700" cap="flat" cmpd="sng" algn="ctr">
                      <a:solidFill>
                        <a:srgbClr val="B5B7B6"/>
                      </a:solidFill>
                      <a:prstDash val="solid"/>
                      <a:round/>
                      <a:headEnd type="none" w="med" len="med"/>
                      <a:tailEnd type="none" w="med" len="med"/>
                    </a:lnL>
                    <a:lnR w="12700" cap="flat" cmpd="sng" algn="ctr">
                      <a:solidFill>
                        <a:srgbClr val="B5B7B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B5B7B6"/>
                      </a:solidFill>
                      <a:prstDash val="solid"/>
                      <a:round/>
                      <a:headEnd type="none" w="med" len="med"/>
                      <a:tailEnd type="none" w="med" len="med"/>
                    </a:lnB>
                    <a:solidFill>
                      <a:srgbClr val="E3E5E4"/>
                    </a:solidFill>
                  </a:tcPr>
                </a:tc>
                <a:extLst>
                  <a:ext uri="{0D108BD9-81ED-4DB2-BD59-A6C34878D82A}">
                    <a16:rowId xmlns:a16="http://schemas.microsoft.com/office/drawing/2014/main" val="10000"/>
                  </a:ext>
                </a:extLst>
              </a:tr>
              <a:tr h="447030">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1</a:t>
                      </a:r>
                      <a:endParaRPr lang="en-US" sz="1300"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B5B7B6"/>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No pack account for this serial</a:t>
                      </a:r>
                      <a:endParaRPr lang="en-US" sz="1300"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B5B7B6"/>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B93E0A"/>
                          </a:solidFill>
                          <a:latin typeface="Plus Jakarta Sans" pitchFamily="34" charset="0"/>
                          <a:ea typeface="Plus Jakarta Sans" pitchFamily="34" charset="-122"/>
                          <a:cs typeface="Plus Jakarta Sans" pitchFamily="34" charset="-120"/>
                        </a:rPr>
                        <a:t>✕ Unknown: never registered</a:t>
                      </a:r>
                      <a:endParaRPr lang="en-US" sz="1300"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B5B7B6"/>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1"/>
                  </a:ext>
                </a:extLst>
              </a:tr>
              <a:tr h="447030">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2</a:t>
                      </a:r>
                      <a:endParaRPr lang="en-US" sz="1300"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Dispensed ≤ 10 min ago</a:t>
                      </a:r>
                      <a:endParaRPr lang="en-US" sz="1300"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57F4F"/>
                          </a:solidFill>
                          <a:latin typeface="Plus Jakarta Sans" pitchFamily="34" charset="0"/>
                          <a:ea typeface="Plus Jakarta Sans" pitchFamily="34" charset="-122"/>
                          <a:cs typeface="Plus Jakarta Sans" pitchFamily="34" charset="-120"/>
                        </a:rPr>
                        <a:t>✓ Genuine: the patient's own purchase</a:t>
                      </a:r>
                      <a:endParaRPr lang="en-US" sz="1300"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2"/>
                  </a:ext>
                </a:extLst>
              </a:tr>
              <a:tr h="447030">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3</a:t>
                      </a:r>
                      <a:endParaRPr lang="en-US" sz="1300"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Dispensed more than 10 min ago</a:t>
                      </a:r>
                      <a:endParaRPr lang="en-US" sz="1300"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B93E0A"/>
                          </a:solidFill>
                          <a:latin typeface="Plus Jakarta Sans" pitchFamily="34" charset="0"/>
                          <a:ea typeface="Plus Jakarta Sans" pitchFamily="34" charset="-122"/>
                          <a:cs typeface="Plus Jakarta Sans" pitchFamily="34" charset="-120"/>
                        </a:rPr>
                        <a:t>✕ Already used: copied code, sold earlier</a:t>
                      </a:r>
                      <a:endParaRPr lang="en-US" sz="1300"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3"/>
                  </a:ext>
                </a:extLst>
              </a:tr>
              <a:tr h="678160">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4</a:t>
                      </a:r>
                      <a:endParaRPr lang="en-US" sz="1300"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Not dispensed, scanned at a pharmacy ≠ holder</a:t>
                      </a:r>
                      <a:endParaRPr lang="en-US" sz="1300"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8A4B00"/>
                          </a:solidFill>
                          <a:latin typeface="Plus Jakarta Sans" pitchFamily="34" charset="0"/>
                          <a:ea typeface="Plus Jakarta Sans" pitchFamily="34" charset="-122"/>
                          <a:cs typeface="Plus Jakarta Sans" pitchFamily="34" charset="-120"/>
                        </a:rPr>
                        <a:t>! Other pharmacy: belongs to other stock</a:t>
                      </a:r>
                      <a:endParaRPr lang="en-US" sz="1300"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4"/>
                  </a:ext>
                </a:extLst>
              </a:tr>
              <a:tr h="678160">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5</a:t>
                      </a:r>
                      <a:endParaRPr lang="en-US" sz="1300"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Not dispensed, at the holder or no pharmacy</a:t>
                      </a:r>
                      <a:endParaRPr lang="en-US" sz="1300"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57F4F"/>
                          </a:solidFill>
                          <a:latin typeface="Plus Jakarta Sans" pitchFamily="34" charset="0"/>
                          <a:ea typeface="Plus Jakarta Sans" pitchFamily="34" charset="-122"/>
                          <a:cs typeface="Plus Jakarta Sans" pitchFamily="34" charset="-120"/>
                        </a:rPr>
                        <a:t>✓ Genuine: registered, in supply chain</a:t>
                      </a:r>
                      <a:endParaRPr lang="en-US" sz="1300"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5045819"/>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201E"/>
                </a:solidFill>
                <a:latin typeface="Plus Jakarta Sans" pitchFamily="34" charset="0"/>
                <a:ea typeface="Plus Jakarta Sans" pitchFamily="34" charset="-122"/>
                <a:cs typeface="Plus Jakarta Sans" pitchFamily="34" charset="-120"/>
              </a:rPr>
              <a:t>Rules live in one pure function, </a:t>
            </a:r>
            <a:r>
              <a:rPr lang="en-US" sz="1400" dirty="0">
                <a:solidFill>
                  <a:srgbClr val="0B5D57"/>
                </a:solidFill>
                <a:latin typeface="Plus Jakarta Sans" pitchFamily="34" charset="0"/>
                <a:ea typeface="Plus Jakarta Sans" pitchFamily="34" charset="-122"/>
                <a:cs typeface="Plus Jakarta Sans" pitchFamily="34" charset="-120"/>
              </a:rPr>
              <a:t>computeVerdict()</a:t>
            </a:r>
            <a:r>
              <a:rPr lang="en-US" sz="1400" dirty="0">
                <a:solidFill>
                  <a:srgbClr val="12201E"/>
                </a:solidFill>
                <a:latin typeface="Plus Jakarta Sans" pitchFamily="34" charset="0"/>
                <a:ea typeface="Plus Jakarta Sans" pitchFamily="34" charset="-122"/>
                <a:cs typeface="Plus Jakarta Sans" pitchFamily="34" charset="-120"/>
              </a:rPr>
              <a:t>. A network error shows </a:t>
            </a:r>
            <a:r>
              <a:rPr lang="en-US" sz="1400" b="1" dirty="0">
                <a:solidFill>
                  <a:srgbClr val="12201E"/>
                </a:solidFill>
                <a:latin typeface="Plus Jakarta Sans" pitchFamily="34" charset="0"/>
                <a:ea typeface="Plus Jakarta Sans" pitchFamily="34" charset="-122"/>
                <a:cs typeface="Plus Jakarta Sans" pitchFamily="34" charset="-120"/>
              </a:rPr>
              <a:t>“Network busy, retry”</a:t>
            </a:r>
            <a:r>
              <a:rPr lang="en-US" sz="1400" dirty="0">
                <a:solidFill>
                  <a:srgbClr val="12201E"/>
                </a:solidFill>
                <a:latin typeface="Plus Jakarta Sans" pitchFamily="34" charset="0"/>
                <a:ea typeface="Plus Jakarta Sans" pitchFamily="34" charset="-122"/>
                <a:cs typeface="Plus Jakarta Sans" pitchFamily="34" charset="-120"/>
              </a:rPr>
              <a:t>, never “fake”.</a:t>
            </a:r>
            <a:endParaRPr lang="en-US" sz="1400" dirty="0"/>
          </a:p>
        </p:txBody>
      </p:sp>
      <p:sp>
        <p:nvSpPr>
          <p:cNvPr id="6" name="Text 3"/>
          <p:cNvSpPr/>
          <p:nvPr/>
        </p:nvSpPr>
        <p:spPr>
          <a:xfrm>
            <a:off x="11188353" y="6238280"/>
            <a:ext cx="24164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A2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5D57"/>
                </a:solidFill>
                <a:latin typeface="Plus Jakarta Sans" pitchFamily="34" charset="0"/>
                <a:ea typeface="Plus Jakarta Sans" pitchFamily="34" charset="-122"/>
                <a:cs typeface="Plus Jakarta Sans" pitchFamily="34" charset="-120"/>
              </a:rPr>
              <a:t>A3 · BACKUP</a:t>
            </a:r>
            <a:endParaRPr lang="en-US" sz="1200" dirty="0"/>
          </a:p>
        </p:txBody>
      </p:sp>
      <p:sp>
        <p:nvSpPr>
          <p:cNvPr id="3" name="Text 1"/>
          <p:cNvSpPr/>
          <p:nvPr/>
        </p:nvSpPr>
        <p:spPr>
          <a:xfrm>
            <a:off x="812800" y="1026120"/>
            <a:ext cx="10883392" cy="430758"/>
          </a:xfrm>
          <a:prstGeom prst="rect">
            <a:avLst/>
          </a:prstGeom>
          <a:noFill/>
          <a:ln/>
        </p:spPr>
        <p:txBody>
          <a:bodyPr wrap="square" lIns="0" tIns="0" rIns="0" bIns="0" rtlCol="0" anchor="t">
            <a:normAutofit/>
          </a:bodyPr>
          <a:lstStyle/>
          <a:p>
            <a:pPr marL="0" indent="0" algn="l">
              <a:lnSpc>
                <a:spcPts val="3192"/>
              </a:lnSpc>
              <a:buNone/>
            </a:pPr>
            <a:r>
              <a:rPr lang="en-US" sz="2800" b="1" kern="0" spc="-50" dirty="0">
                <a:solidFill>
                  <a:srgbClr val="12201E"/>
                </a:solidFill>
                <a:latin typeface="Plus Jakarta Sans" pitchFamily="34" charset="0"/>
                <a:ea typeface="Plus Jakarta Sans" pitchFamily="34" charset="-122"/>
                <a:cs typeface="Plus Jakarta Sans" pitchFamily="34" charset="-120"/>
              </a:rPr>
              <a:t>Out of scope and risks, stated plainly</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98179"/>
          <a:ext cx="10553700" cy="3527970"/>
        </p:xfrm>
        <a:graphic>
          <a:graphicData uri="http://schemas.openxmlformats.org/drawingml/2006/table">
            <a:tbl>
              <a:tblPr/>
              <a:tblGrid>
                <a:gridCol w="5276850">
                  <a:extLst>
                    <a:ext uri="{9D8B030D-6E8A-4147-A177-3AD203B41FA5}">
                      <a16:colId xmlns:a16="http://schemas.microsoft.com/office/drawing/2014/main" val="20000"/>
                    </a:ext>
                  </a:extLst>
                </a:gridCol>
                <a:gridCol w="5276850">
                  <a:extLst>
                    <a:ext uri="{9D8B030D-6E8A-4147-A177-3AD203B41FA5}">
                      <a16:colId xmlns:a16="http://schemas.microsoft.com/office/drawing/2014/main" val="20001"/>
                    </a:ext>
                  </a:extLst>
                </a:gridCol>
              </a:tblGrid>
              <a:tr h="472430">
                <a:tc>
                  <a:txBody>
                    <a:bodyPr/>
                    <a:lstStyle/>
                    <a:p>
                      <a:pPr marL="0" indent="0">
                        <a:lnSpc>
                          <a:spcPts val="1820"/>
                        </a:lnSpc>
                        <a:buNone/>
                      </a:pPr>
                      <a:r>
                        <a:rPr lang="en-US" sz="1300" b="1" dirty="0">
                          <a:solidFill>
                            <a:srgbClr val="FFFFFF"/>
                          </a:solidFill>
                          <a:latin typeface="Plus Jakarta Sans" pitchFamily="34" charset="0"/>
                          <a:ea typeface="Plus Jakarta Sans" pitchFamily="34" charset="-122"/>
                          <a:cs typeface="Plus Jakarta Sans" pitchFamily="34" charset="-120"/>
                        </a:rPr>
                        <a:t>Risk</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B5B7B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B5B7B6"/>
                      </a:solidFill>
                      <a:prstDash val="solid"/>
                      <a:round/>
                      <a:headEnd type="none" w="med" len="med"/>
                      <a:tailEnd type="none" w="med" len="med"/>
                    </a:lnB>
                    <a:solidFill>
                      <a:srgbClr val="E3E5E4"/>
                    </a:solidFill>
                  </a:tcPr>
                </a:tc>
                <a:tc>
                  <a:txBody>
                    <a:bodyPr/>
                    <a:lstStyle/>
                    <a:p>
                      <a:pPr marL="0" indent="0">
                        <a:lnSpc>
                          <a:spcPts val="1820"/>
                        </a:lnSpc>
                        <a:buNone/>
                      </a:pPr>
                      <a:r>
                        <a:rPr lang="en-US" sz="1300" b="1" dirty="0">
                          <a:solidFill>
                            <a:srgbClr val="FFFFFF"/>
                          </a:solidFill>
                          <a:latin typeface="Plus Jakarta Sans" pitchFamily="34" charset="0"/>
                          <a:ea typeface="Plus Jakarta Sans" pitchFamily="34" charset="-122"/>
                          <a:cs typeface="Plus Jakarta Sans" pitchFamily="34" charset="-120"/>
                        </a:rPr>
                        <a:t>Response</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B5B7B6"/>
                      </a:solidFill>
                      <a:prstDash val="solid"/>
                      <a:round/>
                      <a:headEnd type="none" w="med" len="med"/>
                      <a:tailEnd type="none" w="med" len="med"/>
                    </a:lnL>
                    <a:lnR w="12700" cap="flat" cmpd="sng" algn="ctr">
                      <a:solidFill>
                        <a:srgbClr val="B5B7B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B5B7B6"/>
                      </a:solidFill>
                      <a:prstDash val="solid"/>
                      <a:round/>
                      <a:headEnd type="none" w="med" len="med"/>
                      <a:tailEnd type="none" w="med" len="med"/>
                    </a:lnB>
                    <a:solidFill>
                      <a:srgbClr val="E3E5E4"/>
                    </a:solidFill>
                  </a:tcPr>
                </a:tc>
                <a:extLst>
                  <a:ext uri="{0D108BD9-81ED-4DB2-BD59-A6C34878D82A}">
                    <a16:rowId xmlns:a16="http://schemas.microsoft.com/office/drawing/2014/main" val="10000"/>
                  </a:ext>
                </a:extLst>
              </a:tr>
              <a:tr h="703560">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Substandard-but-genuine drugs</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B5B7B6"/>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Out of scope: we prove origin, not quality. Pair with regulator lab testing</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B5B7B6"/>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1"/>
                  </a:ext>
                </a:extLst>
              </a:tr>
              <a:tr h="472430">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Unserialized stock</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Phase in by product, starting with one antibiotic</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2"/>
                  </a:ext>
                </a:extLst>
              </a:tr>
              <a:tr h="472430">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Adoption</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Lead with manufacturers' brand pain; regulator registry follows</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3"/>
                  </a:ext>
                </a:extLst>
              </a:tr>
              <a:tr h="472430">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Basic phones</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SMS verification in the national phase</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4"/>
                  </a:ext>
                </a:extLst>
              </a:tr>
              <a:tr h="934690">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Label reuse</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Dispensed stays dispensed, so reused labels scan as used. Tamper-evident seal from the national phase (~€0.003/pack, est.)</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11187013" y="6238280"/>
            <a:ext cx="24298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A3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5D57"/>
                </a:solidFill>
                <a:latin typeface="Plus Jakarta Sans" pitchFamily="34" charset="0"/>
                <a:ea typeface="Plus Jakarta Sans" pitchFamily="34" charset="-122"/>
                <a:cs typeface="Plus Jakarta Sans" pitchFamily="34" charset="-120"/>
              </a:rPr>
              <a:t>A4 · BACKUP</a:t>
            </a:r>
            <a:endParaRPr lang="en-US" sz="1200" dirty="0"/>
          </a:p>
        </p:txBody>
      </p:sp>
      <p:sp>
        <p:nvSpPr>
          <p:cNvPr id="3" name="Text 1"/>
          <p:cNvSpPr/>
          <p:nvPr/>
        </p:nvSpPr>
        <p:spPr>
          <a:xfrm>
            <a:off x="812800" y="1026120"/>
            <a:ext cx="10883392" cy="430758"/>
          </a:xfrm>
          <a:prstGeom prst="rect">
            <a:avLst/>
          </a:prstGeom>
          <a:noFill/>
          <a:ln/>
        </p:spPr>
        <p:txBody>
          <a:bodyPr wrap="square" lIns="0" tIns="0" rIns="0" bIns="0" rtlCol="0" anchor="t">
            <a:normAutofit/>
          </a:bodyPr>
          <a:lstStyle/>
          <a:p>
            <a:pPr marL="0" indent="0" algn="l">
              <a:lnSpc>
                <a:spcPts val="3192"/>
              </a:lnSpc>
              <a:buNone/>
            </a:pPr>
            <a:r>
              <a:rPr lang="en-US" sz="2800" b="1" kern="0" spc="-50" dirty="0">
                <a:solidFill>
                  <a:srgbClr val="12201E"/>
                </a:solidFill>
                <a:latin typeface="Plus Jakarta Sans" pitchFamily="34" charset="0"/>
                <a:ea typeface="Plus Jakarta Sans" pitchFamily="34" charset="-122"/>
                <a:cs typeface="Plus Jakarta Sans" pitchFamily="34" charset="-120"/>
              </a:rPr>
              <a:t>Regulatory fit: a records system, not a crypto product</a:t>
            </a:r>
            <a:endParaRPr lang="en-US" sz="2800" dirty="0"/>
          </a:p>
        </p:txBody>
      </p:sp>
      <p:sp>
        <p:nvSpPr>
          <p:cNvPr id="4" name="Shape 2"/>
          <p:cNvSpPr/>
          <p:nvPr/>
        </p:nvSpPr>
        <p:spPr>
          <a:xfrm>
            <a:off x="815975" y="1739454"/>
            <a:ext cx="3380284" cy="1832471"/>
          </a:xfrm>
          <a:prstGeom prst="roundRect">
            <a:avLst>
              <a:gd name="adj" fmla="val 8143"/>
            </a:avLst>
          </a:prstGeom>
          <a:solidFill>
            <a:srgbClr val="FFFFFF"/>
          </a:solidFill>
          <a:ln w="6350">
            <a:solidFill>
              <a:srgbClr val="D7E2DF"/>
            </a:solidFill>
            <a:prstDash val="solid"/>
          </a:ln>
        </p:spPr>
        <p:txBody>
          <a:bodyPr/>
          <a:lstStyle/>
          <a:p>
            <a:endParaRPr lang="en-US"/>
          </a:p>
        </p:txBody>
      </p:sp>
      <p:sp>
        <p:nvSpPr>
          <p:cNvPr id="5" name="Text 3"/>
          <p:cNvSpPr/>
          <p:nvPr/>
        </p:nvSpPr>
        <p:spPr>
          <a:xfrm>
            <a:off x="1073150" y="1996629"/>
            <a:ext cx="295191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2201E"/>
                </a:solidFill>
                <a:latin typeface="Plus Jakarta Sans" pitchFamily="34" charset="0"/>
                <a:ea typeface="Plus Jakarta Sans" pitchFamily="34" charset="-122"/>
                <a:cs typeface="Plus Jakarta Sans" pitchFamily="34" charset="-120"/>
              </a:rPr>
              <a:t>Non-payment use</a:t>
            </a:r>
            <a:endParaRPr lang="en-US" sz="1700" dirty="0"/>
          </a:p>
        </p:txBody>
      </p:sp>
      <p:sp>
        <p:nvSpPr>
          <p:cNvPr id="6" name="Text 4"/>
          <p:cNvSpPr/>
          <p:nvPr/>
        </p:nvSpPr>
        <p:spPr>
          <a:xfrm>
            <a:off x="1073150" y="2357289"/>
            <a:ext cx="2951912" cy="74349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A4A46"/>
                </a:solidFill>
                <a:latin typeface="Plus Jakarta Sans" pitchFamily="34" charset="0"/>
                <a:ea typeface="Plus Jakarta Sans" pitchFamily="34" charset="-122"/>
                <a:cs typeface="Plus Jakarta Sans" pitchFamily="34" charset="-120"/>
              </a:rPr>
              <a:t>The chain stores custody records. No money moves on-chain between users.</a:t>
            </a:r>
            <a:endParaRPr lang="en-US" sz="1300" dirty="0"/>
          </a:p>
        </p:txBody>
      </p:sp>
      <p:sp>
        <p:nvSpPr>
          <p:cNvPr id="7" name="Shape 5"/>
          <p:cNvSpPr/>
          <p:nvPr/>
        </p:nvSpPr>
        <p:spPr>
          <a:xfrm>
            <a:off x="4405809" y="1739454"/>
            <a:ext cx="3380333" cy="1832471"/>
          </a:xfrm>
          <a:prstGeom prst="roundRect">
            <a:avLst>
              <a:gd name="adj" fmla="val 8143"/>
            </a:avLst>
          </a:prstGeom>
          <a:solidFill>
            <a:srgbClr val="FFFFFF"/>
          </a:solidFill>
          <a:ln w="6350">
            <a:solidFill>
              <a:srgbClr val="D7E2DF"/>
            </a:solidFill>
            <a:prstDash val="solid"/>
          </a:ln>
        </p:spPr>
        <p:txBody>
          <a:bodyPr/>
          <a:lstStyle/>
          <a:p>
            <a:endParaRPr lang="en-US"/>
          </a:p>
        </p:txBody>
      </p:sp>
      <p:sp>
        <p:nvSpPr>
          <p:cNvPr id="8" name="Text 6"/>
          <p:cNvSpPr/>
          <p:nvPr/>
        </p:nvSpPr>
        <p:spPr>
          <a:xfrm>
            <a:off x="4662984" y="1996629"/>
            <a:ext cx="295196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2201E"/>
                </a:solidFill>
                <a:latin typeface="Plus Jakarta Sans" pitchFamily="34" charset="0"/>
                <a:ea typeface="Plus Jakarta Sans" pitchFamily="34" charset="-122"/>
                <a:cs typeface="Plus Jakarta Sans" pitchFamily="34" charset="-120"/>
              </a:rPr>
              <a:t>No tokens</a:t>
            </a:r>
            <a:endParaRPr lang="en-US" sz="1700" dirty="0"/>
          </a:p>
        </p:txBody>
      </p:sp>
      <p:sp>
        <p:nvSpPr>
          <p:cNvPr id="9" name="Text 7"/>
          <p:cNvSpPr/>
          <p:nvPr/>
        </p:nvSpPr>
        <p:spPr>
          <a:xfrm>
            <a:off x="4662984" y="2357289"/>
            <a:ext cx="2951963" cy="74349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A4A46"/>
                </a:solidFill>
                <a:latin typeface="Plus Jakarta Sans" pitchFamily="34" charset="0"/>
                <a:ea typeface="Plus Jakarta Sans" pitchFamily="34" charset="-122"/>
                <a:cs typeface="Plus Jakarta Sans" pitchFamily="34" charset="-120"/>
              </a:rPr>
              <a:t>No token issued or sold. Customers pay in local currency; MedTrace covers network fees.</a:t>
            </a:r>
            <a:endParaRPr lang="en-US" sz="1300" dirty="0"/>
          </a:p>
        </p:txBody>
      </p:sp>
      <p:sp>
        <p:nvSpPr>
          <p:cNvPr id="10" name="Shape 8"/>
          <p:cNvSpPr/>
          <p:nvPr/>
        </p:nvSpPr>
        <p:spPr>
          <a:xfrm>
            <a:off x="7995692" y="1739454"/>
            <a:ext cx="3380333" cy="1832471"/>
          </a:xfrm>
          <a:prstGeom prst="roundRect">
            <a:avLst>
              <a:gd name="adj" fmla="val 8143"/>
            </a:avLst>
          </a:prstGeom>
          <a:solidFill>
            <a:srgbClr val="FFFFFF"/>
          </a:solidFill>
          <a:ln w="6350">
            <a:solidFill>
              <a:srgbClr val="D7E2DF"/>
            </a:solidFill>
            <a:prstDash val="solid"/>
          </a:ln>
        </p:spPr>
        <p:txBody>
          <a:bodyPr/>
          <a:lstStyle/>
          <a:p>
            <a:endParaRPr lang="en-US"/>
          </a:p>
        </p:txBody>
      </p:sp>
      <p:sp>
        <p:nvSpPr>
          <p:cNvPr id="11" name="Text 9"/>
          <p:cNvSpPr/>
          <p:nvPr/>
        </p:nvSpPr>
        <p:spPr>
          <a:xfrm>
            <a:off x="8252867" y="1996629"/>
            <a:ext cx="295196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2201E"/>
                </a:solidFill>
                <a:latin typeface="Plus Jakarta Sans" pitchFamily="34" charset="0"/>
                <a:ea typeface="Plus Jakarta Sans" pitchFamily="34" charset="-122"/>
                <a:cs typeface="Plus Jakarta Sans" pitchFamily="34" charset="-120"/>
              </a:rPr>
              <a:t>Policy direction</a:t>
            </a:r>
            <a:endParaRPr lang="en-US" sz="1700" dirty="0"/>
          </a:p>
        </p:txBody>
      </p:sp>
      <p:sp>
        <p:nvSpPr>
          <p:cNvPr id="12" name="Text 10"/>
          <p:cNvSpPr/>
          <p:nvPr/>
        </p:nvSpPr>
        <p:spPr>
          <a:xfrm>
            <a:off x="8252867" y="2357289"/>
            <a:ext cx="2951963"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A4A46"/>
                </a:solidFill>
                <a:latin typeface="Plus Jakarta Sans" pitchFamily="34" charset="0"/>
                <a:ea typeface="Plus Jakarta Sans" pitchFamily="34" charset="-122"/>
                <a:cs typeface="Plus Jakarta Sans" pitchFamily="34" charset="-120"/>
              </a:rPr>
              <a:t>The ICT Division's National Blockchain Strategy names health among the sectors it targets for blockchain.</a:t>
            </a:r>
            <a:endParaRPr lang="en-US" sz="1300" dirty="0"/>
          </a:p>
        </p:txBody>
      </p:sp>
      <p:sp>
        <p:nvSpPr>
          <p:cNvPr id="13" name="Text 11"/>
          <p:cNvSpPr/>
          <p:nvPr/>
        </p:nvSpPr>
        <p:spPr>
          <a:xfrm>
            <a:off x="11183789" y="6238280"/>
            <a:ext cx="2462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A4</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21853"/>
          </a:xfrm>
          <a:prstGeom prst="rect">
            <a:avLst/>
          </a:prstGeom>
          <a:noFill/>
          <a:ln/>
        </p:spPr>
        <p:txBody>
          <a:bodyPr wrap="square" lIns="0" tIns="0" rIns="0" bIns="0" rtlCol="0" anchor="t">
            <a:normAutofit/>
          </a:bodyPr>
          <a:lstStyle/>
          <a:p>
            <a:pPr marL="0" indent="0" algn="l">
              <a:lnSpc>
                <a:spcPts val="1570"/>
              </a:lnSpc>
              <a:buNone/>
            </a:pPr>
            <a:r>
              <a:rPr lang="en-US" sz="1121" b="1" kern="0" spc="150" dirty="0">
                <a:solidFill>
                  <a:srgbClr val="0B5D57"/>
                </a:solidFill>
                <a:latin typeface="Plus Jakarta Sans" pitchFamily="34" charset="0"/>
                <a:ea typeface="Plus Jakarta Sans" pitchFamily="34" charset="-122"/>
                <a:cs typeface="Plus Jakarta Sans" pitchFamily="34" charset="-120"/>
              </a:rPr>
              <a:t>A5 · BACKUP</a:t>
            </a:r>
            <a:endParaRPr lang="en-US" sz="1121" dirty="0"/>
          </a:p>
        </p:txBody>
      </p:sp>
      <p:sp>
        <p:nvSpPr>
          <p:cNvPr id="3" name="Text 1"/>
          <p:cNvSpPr/>
          <p:nvPr/>
        </p:nvSpPr>
        <p:spPr>
          <a:xfrm>
            <a:off x="812800" y="1009253"/>
            <a:ext cx="10883392" cy="398711"/>
          </a:xfrm>
          <a:prstGeom prst="rect">
            <a:avLst/>
          </a:prstGeom>
          <a:noFill/>
          <a:ln/>
        </p:spPr>
        <p:txBody>
          <a:bodyPr wrap="square" lIns="0" tIns="0" rIns="0" bIns="0" rtlCol="0" anchor="t">
            <a:normAutofit/>
          </a:bodyPr>
          <a:lstStyle/>
          <a:p>
            <a:pPr marL="0" indent="0" algn="l">
              <a:lnSpc>
                <a:spcPts val="2973"/>
              </a:lnSpc>
              <a:buNone/>
            </a:pPr>
            <a:r>
              <a:rPr lang="en-US" sz="2608" b="1" kern="0" spc="-50" dirty="0">
                <a:solidFill>
                  <a:srgbClr val="12201E"/>
                </a:solidFill>
                <a:latin typeface="Plus Jakarta Sans" pitchFamily="34" charset="0"/>
                <a:ea typeface="Plus Jakarta Sans" pitchFamily="34" charset="-122"/>
                <a:cs typeface="Plus Jakarta Sans" pitchFamily="34" charset="-120"/>
              </a:rPr>
              <a:t>Cost at scale: about €0.0016 per pack, all-in</a:t>
            </a:r>
            <a:endParaRPr lang="en-US" sz="2608"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3864"/>
          <a:ext cx="10553700" cy="3175049"/>
        </p:xfrm>
        <a:graphic>
          <a:graphicData uri="http://schemas.openxmlformats.org/drawingml/2006/table">
            <a:tbl>
              <a:tblPr/>
              <a:tblGrid>
                <a:gridCol w="3517900">
                  <a:extLst>
                    <a:ext uri="{9D8B030D-6E8A-4147-A177-3AD203B41FA5}">
                      <a16:colId xmlns:a16="http://schemas.microsoft.com/office/drawing/2014/main" val="20000"/>
                    </a:ext>
                  </a:extLst>
                </a:gridCol>
                <a:gridCol w="3517900">
                  <a:extLst>
                    <a:ext uri="{9D8B030D-6E8A-4147-A177-3AD203B41FA5}">
                      <a16:colId xmlns:a16="http://schemas.microsoft.com/office/drawing/2014/main" val="20001"/>
                    </a:ext>
                  </a:extLst>
                </a:gridCol>
                <a:gridCol w="3517900">
                  <a:extLst>
                    <a:ext uri="{9D8B030D-6E8A-4147-A177-3AD203B41FA5}">
                      <a16:colId xmlns:a16="http://schemas.microsoft.com/office/drawing/2014/main" val="20002"/>
                    </a:ext>
                  </a:extLst>
                </a:gridCol>
              </a:tblGrid>
              <a:tr h="426045">
                <a:tc>
                  <a:txBody>
                    <a:bodyPr/>
                    <a:lstStyle/>
                    <a:p>
                      <a:pPr marL="0" indent="0">
                        <a:lnSpc>
                          <a:spcPts val="1655"/>
                        </a:lnSpc>
                        <a:buNone/>
                      </a:pPr>
                      <a:r>
                        <a:rPr lang="en-US" sz="1182" b="1" dirty="0">
                          <a:solidFill>
                            <a:srgbClr val="FFFFFF"/>
                          </a:solidFill>
                          <a:latin typeface="Plus Jakarta Sans" pitchFamily="34" charset="0"/>
                          <a:ea typeface="Plus Jakarta Sans" pitchFamily="34" charset="-122"/>
                          <a:cs typeface="Plus Jakarta Sans" pitchFamily="34" charset="-120"/>
                        </a:rPr>
                        <a:t>Cost item</a:t>
                      </a:r>
                      <a:endParaRPr lang="en-US" sz="1182"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B5B7B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B5B7B6"/>
                      </a:solidFill>
                      <a:prstDash val="solid"/>
                      <a:round/>
                      <a:headEnd type="none" w="med" len="med"/>
                      <a:tailEnd type="none" w="med" len="med"/>
                    </a:lnB>
                    <a:solidFill>
                      <a:srgbClr val="E3E5E4"/>
                    </a:solidFill>
                  </a:tcPr>
                </a:tc>
                <a:tc>
                  <a:txBody>
                    <a:bodyPr/>
                    <a:lstStyle/>
                    <a:p>
                      <a:pPr marL="0" indent="0">
                        <a:lnSpc>
                          <a:spcPts val="1655"/>
                        </a:lnSpc>
                        <a:buNone/>
                      </a:pPr>
                      <a:r>
                        <a:rPr lang="en-US" sz="1182" b="1" dirty="0">
                          <a:solidFill>
                            <a:srgbClr val="FFFFFF"/>
                          </a:solidFill>
                          <a:latin typeface="Plus Jakarta Sans" pitchFamily="34" charset="0"/>
                          <a:ea typeface="Plus Jakarta Sans" pitchFamily="34" charset="-122"/>
                          <a:cs typeface="Plus Jakarta Sans" pitchFamily="34" charset="-120"/>
                        </a:rPr>
                        <a:t>How it works</a:t>
                      </a:r>
                      <a:endParaRPr lang="en-US" sz="1182" dirty="0">
                        <a:latin typeface="Plus Jakarta Sans" charset="0"/>
                        <a:ea typeface="Plus Jakarta Sans" charset="0"/>
                        <a:cs typeface="Plus Jakarta Sans" charset="0"/>
                      </a:endParaRPr>
                    </a:p>
                  </a:txBody>
                  <a:tcPr marL="152400" marR="152400" marT="101600" marB="101600">
                    <a:lnL w="12700" cap="flat" cmpd="sng" algn="ctr">
                      <a:solidFill>
                        <a:srgbClr val="B5B7B6"/>
                      </a:solidFill>
                      <a:prstDash val="solid"/>
                      <a:round/>
                      <a:headEnd type="none" w="med" len="med"/>
                      <a:tailEnd type="none" w="med" len="med"/>
                    </a:lnL>
                    <a:lnR w="12700" cap="flat" cmpd="sng" algn="ctr">
                      <a:solidFill>
                        <a:srgbClr val="B5B7B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B5B7B6"/>
                      </a:solidFill>
                      <a:prstDash val="solid"/>
                      <a:round/>
                      <a:headEnd type="none" w="med" len="med"/>
                      <a:tailEnd type="none" w="med" len="med"/>
                    </a:lnB>
                    <a:solidFill>
                      <a:srgbClr val="E3E5E4"/>
                    </a:solidFill>
                  </a:tcPr>
                </a:tc>
                <a:tc>
                  <a:txBody>
                    <a:bodyPr/>
                    <a:lstStyle/>
                    <a:p>
                      <a:pPr marL="0" indent="0">
                        <a:lnSpc>
                          <a:spcPts val="1655"/>
                        </a:lnSpc>
                        <a:buNone/>
                      </a:pPr>
                      <a:r>
                        <a:rPr lang="en-US" sz="1182" b="1" dirty="0">
                          <a:solidFill>
                            <a:srgbClr val="FFFFFF"/>
                          </a:solidFill>
                          <a:latin typeface="Plus Jakarta Sans" pitchFamily="34" charset="0"/>
                          <a:ea typeface="Plus Jakarta Sans" pitchFamily="34" charset="-122"/>
                          <a:cs typeface="Plus Jakarta Sans" pitchFamily="34" charset="-120"/>
                        </a:rPr>
                        <a:t>Per pack (est.)</a:t>
                      </a:r>
                      <a:endParaRPr lang="en-US" sz="1182" dirty="0">
                        <a:latin typeface="Plus Jakarta Sans" charset="0"/>
                        <a:ea typeface="Plus Jakarta Sans" charset="0"/>
                        <a:cs typeface="Plus Jakarta Sans" charset="0"/>
                      </a:endParaRPr>
                    </a:p>
                  </a:txBody>
                  <a:tcPr marL="152400" marR="152400" marT="101600" marB="101600">
                    <a:lnL w="12700" cap="flat" cmpd="sng" algn="ctr">
                      <a:solidFill>
                        <a:srgbClr val="B5B7B6"/>
                      </a:solidFill>
                      <a:prstDash val="solid"/>
                      <a:round/>
                      <a:headEnd type="none" w="med" len="med"/>
                      <a:tailEnd type="none" w="med" len="med"/>
                    </a:lnL>
                    <a:lnR w="12700" cap="flat" cmpd="sng" algn="ctr">
                      <a:solidFill>
                        <a:srgbClr val="B5B7B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B5B7B6"/>
                      </a:solidFill>
                      <a:prstDash val="solid"/>
                      <a:round/>
                      <a:headEnd type="none" w="med" len="med"/>
                      <a:tailEnd type="none" w="med" len="med"/>
                    </a:lnB>
                    <a:solidFill>
                      <a:srgbClr val="E3E5E4"/>
                    </a:solidFill>
                  </a:tcPr>
                </a:tc>
                <a:extLst>
                  <a:ext uri="{0D108BD9-81ED-4DB2-BD59-A6C34878D82A}">
                    <a16:rowId xmlns:a16="http://schemas.microsoft.com/office/drawing/2014/main" val="10000"/>
                  </a:ext>
                </a:extLst>
              </a:tr>
              <a:tr h="1056332">
                <a:tc>
                  <a:txBody>
                    <a:bodyPr/>
                    <a:lstStyle/>
                    <a:p>
                      <a:pPr marL="0" indent="0">
                        <a:lnSpc>
                          <a:spcPts val="1655"/>
                        </a:lnSpc>
                        <a:buNone/>
                      </a:pPr>
                      <a:r>
                        <a:rPr lang="en-US" sz="1182" dirty="0">
                          <a:solidFill>
                            <a:srgbClr val="12201E"/>
                          </a:solidFill>
                          <a:latin typeface="Plus Jakarta Sans" pitchFamily="34" charset="0"/>
                          <a:ea typeface="Plus Jakarta Sans" pitchFamily="34" charset="-122"/>
                          <a:cs typeface="Plus Jakarta Sans" pitchFamily="34" charset="-120"/>
                        </a:rPr>
                        <a:t>Transaction fees</a:t>
                      </a:r>
                      <a:endParaRPr lang="en-US" sz="1182"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B5B7B6"/>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655"/>
                        </a:lnSpc>
                        <a:buNone/>
                      </a:pPr>
                      <a:r>
                        <a:rPr lang="en-US" sz="1182" dirty="0">
                          <a:solidFill>
                            <a:srgbClr val="12201E"/>
                          </a:solidFill>
                          <a:latin typeface="Plus Jakarta Sans" pitchFamily="34" charset="0"/>
                          <a:ea typeface="Plus Jakarta Sans" pitchFamily="34" charset="-122"/>
                          <a:cs typeface="Plus Jakarta Sans" pitchFamily="34" charset="-120"/>
                        </a:rPr>
                        <a:t>5,000 lamports (≈ €0.0005) per signature. Register per lot, hand off per carton (GS1 aggregation), dispense per pack: ~1.1 tx per pack</a:t>
                      </a:r>
                      <a:endParaRPr lang="en-US" sz="1182"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B5B7B6"/>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655"/>
                        </a:lnSpc>
                        <a:buNone/>
                      </a:pPr>
                      <a:r>
                        <a:rPr lang="en-US" sz="1182" dirty="0">
                          <a:solidFill>
                            <a:srgbClr val="12201E"/>
                          </a:solidFill>
                          <a:latin typeface="Plus Jakarta Sans" pitchFamily="34" charset="0"/>
                          <a:ea typeface="Plus Jakarta Sans" pitchFamily="34" charset="-122"/>
                          <a:cs typeface="Plus Jakarta Sans" pitchFamily="34" charset="-120"/>
                        </a:rPr>
                        <a:t>≈ €0.0006</a:t>
                      </a:r>
                      <a:endParaRPr lang="en-US" sz="1182"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B5B7B6"/>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1"/>
                  </a:ext>
                </a:extLst>
              </a:tr>
              <a:tr h="846336">
                <a:tc>
                  <a:txBody>
                    <a:bodyPr/>
                    <a:lstStyle/>
                    <a:p>
                      <a:pPr marL="0" indent="0">
                        <a:lnSpc>
                          <a:spcPts val="1655"/>
                        </a:lnSpc>
                        <a:buNone/>
                      </a:pPr>
                      <a:r>
                        <a:rPr lang="en-US" sz="1182" dirty="0">
                          <a:solidFill>
                            <a:srgbClr val="12201E"/>
                          </a:solidFill>
                          <a:latin typeface="Plus Jakarta Sans" pitchFamily="34" charset="0"/>
                          <a:ea typeface="Plus Jakarta Sans" pitchFamily="34" charset="-122"/>
                          <a:cs typeface="Plus Jakarta Sans" pitchFamily="34" charset="-120"/>
                        </a:rPr>
                        <a:t>Standard record</a:t>
                      </a:r>
                      <a:endParaRPr lang="en-US" sz="1182"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655"/>
                        </a:lnSpc>
                        <a:buNone/>
                      </a:pPr>
                      <a:r>
                        <a:rPr lang="en-US" sz="1182" dirty="0">
                          <a:solidFill>
                            <a:srgbClr val="12201E"/>
                          </a:solidFill>
                          <a:latin typeface="Plus Jakarta Sans" pitchFamily="34" charset="0"/>
                          <a:ea typeface="Plus Jakarta Sans" pitchFamily="34" charset="-122"/>
                          <a:cs typeface="Plus Jakarta Sans" pitchFamily="34" charset="-120"/>
                        </a:rPr>
                        <a:t>~150-byte account needs a ≈ 0.0019 SOL deposit, returned when closed after expiry. Pilot only</a:t>
                      </a:r>
                      <a:endParaRPr lang="en-US" sz="1182"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655"/>
                        </a:lnSpc>
                        <a:buNone/>
                      </a:pPr>
                      <a:r>
                        <a:rPr lang="en-US" sz="1182" dirty="0">
                          <a:solidFill>
                            <a:srgbClr val="12201E"/>
                          </a:solidFill>
                          <a:latin typeface="Plus Jakarta Sans" pitchFamily="34" charset="0"/>
                          <a:ea typeface="Plus Jakarta Sans" pitchFamily="34" charset="-122"/>
                          <a:cs typeface="Plus Jakarta Sans" pitchFamily="34" charset="-120"/>
                        </a:rPr>
                        <a:t>≈ €0.20 deposit (refundable)</a:t>
                      </a:r>
                      <a:endParaRPr lang="en-US" sz="1182"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2"/>
                  </a:ext>
                </a:extLst>
              </a:tr>
              <a:tr h="846336">
                <a:tc>
                  <a:txBody>
                    <a:bodyPr/>
                    <a:lstStyle/>
                    <a:p>
                      <a:pPr marL="0" indent="0">
                        <a:lnSpc>
                          <a:spcPts val="1655"/>
                        </a:lnSpc>
                        <a:buNone/>
                      </a:pPr>
                      <a:r>
                        <a:rPr lang="en-US" sz="1182" dirty="0">
                          <a:solidFill>
                            <a:srgbClr val="12201E"/>
                          </a:solidFill>
                          <a:latin typeface="Plus Jakarta Sans" pitchFamily="34" charset="0"/>
                          <a:ea typeface="Plus Jakarta Sans" pitchFamily="34" charset="-122"/>
                          <a:cs typeface="Plus Jakarta Sans" pitchFamily="34" charset="-120"/>
                        </a:rPr>
                        <a:t>Compressed record</a:t>
                      </a:r>
                      <a:endParaRPr lang="en-US" sz="1182"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655"/>
                        </a:lnSpc>
                        <a:buNone/>
                      </a:pPr>
                      <a:r>
                        <a:rPr lang="en-US" sz="1182" dirty="0">
                          <a:solidFill>
                            <a:srgbClr val="12201E"/>
                          </a:solidFill>
                          <a:latin typeface="Plus Jakarta Sans" pitchFamily="34" charset="0"/>
                          <a:ea typeface="Plus Jakarta Sans" pitchFamily="34" charset="-122"/>
                          <a:cs typeface="Plus Jakarta Sans" pitchFamily="34" charset="-120"/>
                        </a:rPr>
                        <a:t>ZK-compressed state from the national phase: no rent deposit per pack (≈ 0.00001 SOL)</a:t>
                      </a:r>
                      <a:endParaRPr lang="en-US" sz="1182"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655"/>
                        </a:lnSpc>
                        <a:buNone/>
                      </a:pPr>
                      <a:r>
                        <a:rPr lang="en-US" sz="1182" dirty="0">
                          <a:solidFill>
                            <a:srgbClr val="12201E"/>
                          </a:solidFill>
                          <a:latin typeface="Plus Jakarta Sans" pitchFamily="34" charset="0"/>
                          <a:ea typeface="Plus Jakarta Sans" pitchFamily="34" charset="-122"/>
                          <a:cs typeface="Plus Jakarta Sans" pitchFamily="34" charset="-120"/>
                        </a:rPr>
                        <a:t>≈ €0.0010</a:t>
                      </a:r>
                      <a:endParaRPr lang="en-US" sz="1182" dirty="0">
                        <a:latin typeface="Plus Jakarta Sans" charset="0"/>
                        <a:ea typeface="Plus Jakarta Sans" charset="0"/>
                        <a:cs typeface="Plus Jakarta Sans" charset="0"/>
                      </a:endParaRPr>
                    </a:p>
                  </a:txBody>
                  <a:tcPr marL="152400" marR="152400" marT="101600" marB="1016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812800" y="5027513"/>
            <a:ext cx="5207000" cy="814487"/>
          </a:xfrm>
          <a:prstGeom prst="roundRect">
            <a:avLst>
              <a:gd name="adj" fmla="val 18711"/>
            </a:avLst>
          </a:prstGeom>
          <a:solidFill>
            <a:srgbClr val="E3EFEC"/>
          </a:solidFill>
          <a:ln/>
        </p:spPr>
        <p:txBody>
          <a:bodyPr/>
          <a:lstStyle/>
          <a:p>
            <a:endParaRPr lang="en-US"/>
          </a:p>
        </p:txBody>
      </p:sp>
      <p:sp>
        <p:nvSpPr>
          <p:cNvPr id="6" name="Text 3"/>
          <p:cNvSpPr/>
          <p:nvPr/>
        </p:nvSpPr>
        <p:spPr>
          <a:xfrm>
            <a:off x="1016000" y="5205313"/>
            <a:ext cx="4944618" cy="212378"/>
          </a:xfrm>
          <a:prstGeom prst="rect">
            <a:avLst/>
          </a:prstGeom>
          <a:noFill/>
          <a:ln/>
        </p:spPr>
        <p:txBody>
          <a:bodyPr wrap="square" lIns="0" tIns="0" rIns="0" bIns="0" rtlCol="0" anchor="t">
            <a:normAutofit/>
          </a:bodyPr>
          <a:lstStyle/>
          <a:p>
            <a:pPr marL="0" indent="0" algn="l">
              <a:lnSpc>
                <a:spcPts val="1470"/>
              </a:lnSpc>
              <a:buNone/>
            </a:pPr>
            <a:r>
              <a:rPr lang="en-US" sz="1050" b="1" kern="0" spc="100" dirty="0">
                <a:solidFill>
                  <a:srgbClr val="0B5D57"/>
                </a:solidFill>
                <a:latin typeface="Plus Jakarta Sans" pitchFamily="34" charset="0"/>
                <a:ea typeface="Plus Jakarta Sans" pitchFamily="34" charset="-122"/>
                <a:cs typeface="Plus Jakarta Sans" pitchFamily="34" charset="-120"/>
              </a:rPr>
              <a:t>NATIONAL PHASE</a:t>
            </a:r>
            <a:endParaRPr lang="en-US" sz="1050" dirty="0"/>
          </a:p>
        </p:txBody>
      </p:sp>
      <p:sp>
        <p:nvSpPr>
          <p:cNvPr id="7" name="Text 4"/>
          <p:cNvSpPr/>
          <p:nvPr/>
        </p:nvSpPr>
        <p:spPr>
          <a:xfrm>
            <a:off x="1016000" y="5430391"/>
            <a:ext cx="4944618" cy="259209"/>
          </a:xfrm>
          <a:prstGeom prst="rect">
            <a:avLst/>
          </a:prstGeom>
          <a:noFill/>
          <a:ln/>
        </p:spPr>
        <p:txBody>
          <a:bodyPr wrap="square" lIns="0" tIns="0" rIns="0" bIns="0" rtlCol="0" anchor="t">
            <a:normAutofit/>
          </a:bodyPr>
          <a:lstStyle/>
          <a:p>
            <a:pPr marL="0" indent="0" algn="l">
              <a:lnSpc>
                <a:spcPts val="1870"/>
              </a:lnSpc>
              <a:buNone/>
            </a:pPr>
            <a:r>
              <a:rPr lang="en-US" sz="1336" b="1" dirty="0">
                <a:solidFill>
                  <a:srgbClr val="12201E"/>
                </a:solidFill>
                <a:latin typeface="Plus Jakarta Sans" pitchFamily="34" charset="0"/>
                <a:ea typeface="Plus Jakarta Sans" pitchFamily="34" charset="-122"/>
                <a:cs typeface="Plus Jakarta Sans" pitchFamily="34" charset="-120"/>
              </a:rPr>
              <a:t>500 M packs/yr × €0.0016 ≈ €0.8 M/yr</a:t>
            </a:r>
            <a:endParaRPr lang="en-US" sz="1336" dirty="0"/>
          </a:p>
        </p:txBody>
      </p:sp>
      <p:sp>
        <p:nvSpPr>
          <p:cNvPr id="8" name="Shape 5"/>
          <p:cNvSpPr/>
          <p:nvPr/>
        </p:nvSpPr>
        <p:spPr>
          <a:xfrm>
            <a:off x="6172200" y="5027513"/>
            <a:ext cx="5207000" cy="814487"/>
          </a:xfrm>
          <a:prstGeom prst="roundRect">
            <a:avLst>
              <a:gd name="adj" fmla="val 18711"/>
            </a:avLst>
          </a:prstGeom>
          <a:solidFill>
            <a:srgbClr val="0B5D57"/>
          </a:solidFill>
          <a:ln/>
        </p:spPr>
        <p:txBody>
          <a:bodyPr/>
          <a:lstStyle/>
          <a:p>
            <a:endParaRPr lang="en-US"/>
          </a:p>
        </p:txBody>
      </p:sp>
      <p:sp>
        <p:nvSpPr>
          <p:cNvPr id="9" name="Text 6"/>
          <p:cNvSpPr/>
          <p:nvPr/>
        </p:nvSpPr>
        <p:spPr>
          <a:xfrm>
            <a:off x="6375400" y="5205313"/>
            <a:ext cx="4944618" cy="212378"/>
          </a:xfrm>
          <a:prstGeom prst="rect">
            <a:avLst/>
          </a:prstGeom>
          <a:noFill/>
          <a:ln/>
        </p:spPr>
        <p:txBody>
          <a:bodyPr wrap="square" lIns="0" tIns="0" rIns="0" bIns="0" rtlCol="0" anchor="t">
            <a:normAutofit/>
          </a:bodyPr>
          <a:lstStyle/>
          <a:p>
            <a:pPr marL="0" indent="0" algn="l">
              <a:lnSpc>
                <a:spcPts val="1470"/>
              </a:lnSpc>
              <a:buNone/>
            </a:pPr>
            <a:r>
              <a:rPr lang="en-US" sz="1050" b="1" kern="0" spc="100" dirty="0">
                <a:solidFill>
                  <a:srgbClr val="A8E6C8"/>
                </a:solidFill>
                <a:latin typeface="Plus Jakarta Sans" pitchFamily="34" charset="0"/>
                <a:ea typeface="Plus Jakarta Sans" pitchFamily="34" charset="-122"/>
                <a:cs typeface="Plus Jakarta Sans" pitchFamily="34" charset="-120"/>
              </a:rPr>
              <a:t>VS. REVENUE AT €0.007/PACK</a:t>
            </a:r>
            <a:endParaRPr lang="en-US" sz="1050" dirty="0"/>
          </a:p>
        </p:txBody>
      </p:sp>
      <p:sp>
        <p:nvSpPr>
          <p:cNvPr id="10" name="Text 7"/>
          <p:cNvSpPr/>
          <p:nvPr/>
        </p:nvSpPr>
        <p:spPr>
          <a:xfrm>
            <a:off x="6375400" y="5430391"/>
            <a:ext cx="4944618" cy="259209"/>
          </a:xfrm>
          <a:prstGeom prst="rect">
            <a:avLst/>
          </a:prstGeom>
          <a:noFill/>
          <a:ln/>
        </p:spPr>
        <p:txBody>
          <a:bodyPr wrap="square" lIns="0" tIns="0" rIns="0" bIns="0" rtlCol="0" anchor="t">
            <a:normAutofit/>
          </a:bodyPr>
          <a:lstStyle/>
          <a:p>
            <a:pPr marL="0" indent="0" algn="l">
              <a:lnSpc>
                <a:spcPts val="1870"/>
              </a:lnSpc>
              <a:buNone/>
            </a:pPr>
            <a:r>
              <a:rPr lang="en-US" sz="1336" b="1" dirty="0">
                <a:solidFill>
                  <a:srgbClr val="FFFFFF"/>
                </a:solidFill>
                <a:latin typeface="Plus Jakarta Sans" pitchFamily="34" charset="0"/>
                <a:ea typeface="Plus Jakarta Sans" pitchFamily="34" charset="-122"/>
                <a:cs typeface="Plus Jakarta Sans" pitchFamily="34" charset="-120"/>
              </a:rPr>
              <a:t>≈ €3.4 M/yr → ~77% gross margin</a:t>
            </a:r>
            <a:endParaRPr lang="en-US" sz="1336" dirty="0"/>
          </a:p>
        </p:txBody>
      </p:sp>
      <p:sp>
        <p:nvSpPr>
          <p:cNvPr id="11" name="Text 8"/>
          <p:cNvSpPr/>
          <p:nvPr/>
        </p:nvSpPr>
        <p:spPr>
          <a:xfrm>
            <a:off x="812800" y="6238280"/>
            <a:ext cx="805406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Estimates: SOL ≈ €103 ($120) · $1 = Tk 125 · €1 = Tk 145 · 500 M = high-risk categories, top 20–25 manufacturers</a:t>
            </a:r>
            <a:endParaRPr lang="en-US" sz="1200" dirty="0"/>
          </a:p>
        </p:txBody>
      </p:sp>
      <p:sp>
        <p:nvSpPr>
          <p:cNvPr id="12" name="Text 9"/>
          <p:cNvSpPr/>
          <p:nvPr/>
        </p:nvSpPr>
        <p:spPr>
          <a:xfrm>
            <a:off x="11185922" y="6238280"/>
            <a:ext cx="2440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A5</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5D57"/>
                </a:solidFill>
                <a:latin typeface="Plus Jakarta Sans" pitchFamily="34" charset="0"/>
                <a:ea typeface="Plus Jakarta Sans" pitchFamily="34" charset="-122"/>
                <a:cs typeface="Plus Jakarta Sans" pitchFamily="34" charset="-120"/>
              </a:rPr>
              <a:t>A6 · BACKUP</a:t>
            </a:r>
            <a:endParaRPr lang="en-US" sz="1200" dirty="0"/>
          </a:p>
        </p:txBody>
      </p:sp>
      <p:sp>
        <p:nvSpPr>
          <p:cNvPr id="3" name="Text 1"/>
          <p:cNvSpPr/>
          <p:nvPr/>
        </p:nvSpPr>
        <p:spPr>
          <a:xfrm>
            <a:off x="812800" y="1026120"/>
            <a:ext cx="10883392" cy="430758"/>
          </a:xfrm>
          <a:prstGeom prst="rect">
            <a:avLst/>
          </a:prstGeom>
          <a:noFill/>
          <a:ln/>
        </p:spPr>
        <p:txBody>
          <a:bodyPr wrap="square" lIns="0" tIns="0" rIns="0" bIns="0" rtlCol="0" anchor="t">
            <a:normAutofit/>
          </a:bodyPr>
          <a:lstStyle/>
          <a:p>
            <a:pPr marL="0" indent="0" algn="l">
              <a:lnSpc>
                <a:spcPts val="3192"/>
              </a:lnSpc>
              <a:buNone/>
            </a:pPr>
            <a:r>
              <a:rPr lang="en-US" sz="2800" b="1" kern="0" spc="-50" dirty="0">
                <a:solidFill>
                  <a:srgbClr val="12201E"/>
                </a:solidFill>
                <a:latin typeface="Plus Jakarta Sans" pitchFamily="34" charset="0"/>
                <a:ea typeface="Plus Jakarta Sans" pitchFamily="34" charset="-122"/>
                <a:cs typeface="Plus Jakarta Sans" pitchFamily="34" charset="-120"/>
              </a:rPr>
              <a:t>Business model detail: manufacturers adopt first</a:t>
            </a:r>
            <a:endParaRPr lang="en-US" sz="2800" dirty="0"/>
          </a:p>
        </p:txBody>
      </p:sp>
      <p:sp>
        <p:nvSpPr>
          <p:cNvPr id="4" name="Shape 2"/>
          <p:cNvSpPr/>
          <p:nvPr/>
        </p:nvSpPr>
        <p:spPr>
          <a:xfrm>
            <a:off x="815975" y="1688654"/>
            <a:ext cx="5175250" cy="3305522"/>
          </a:xfrm>
          <a:prstGeom prst="roundRect">
            <a:avLst>
              <a:gd name="adj" fmla="val 4514"/>
            </a:avLst>
          </a:prstGeom>
          <a:solidFill>
            <a:srgbClr val="FFFFFF"/>
          </a:solidFill>
          <a:ln w="6350">
            <a:solidFill>
              <a:srgbClr val="D7E2DF"/>
            </a:solidFill>
            <a:prstDash val="solid"/>
          </a:ln>
        </p:spPr>
        <p:txBody>
          <a:bodyPr/>
          <a:lstStyle/>
          <a:p>
            <a:endParaRPr lang="en-US"/>
          </a:p>
        </p:txBody>
      </p:sp>
      <p:sp>
        <p:nvSpPr>
          <p:cNvPr id="5" name="Text 3"/>
          <p:cNvSpPr/>
          <p:nvPr/>
        </p:nvSpPr>
        <p:spPr>
          <a:xfrm>
            <a:off x="1047750" y="1920429"/>
            <a:ext cx="485305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1E"/>
                </a:solidFill>
                <a:latin typeface="Plus Jakarta Sans" pitchFamily="34" charset="0"/>
                <a:ea typeface="Plus Jakarta Sans" pitchFamily="34" charset="-122"/>
                <a:cs typeface="Plus Jakarta Sans" pitchFamily="34" charset="-120"/>
              </a:rPr>
              <a:t>Pricing tiers (targets)</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60450" y="2278559"/>
          <a:ext cx="4699000" cy="2483841"/>
        </p:xfrm>
        <a:graphic>
          <a:graphicData uri="http://schemas.openxmlformats.org/drawingml/2006/table">
            <a:tbl>
              <a:tblPr/>
              <a:tblGrid>
                <a:gridCol w="2349500">
                  <a:extLst>
                    <a:ext uri="{9D8B030D-6E8A-4147-A177-3AD203B41FA5}">
                      <a16:colId xmlns:a16="http://schemas.microsoft.com/office/drawing/2014/main" val="20000"/>
                    </a:ext>
                  </a:extLst>
                </a:gridCol>
                <a:gridCol w="2349500">
                  <a:extLst>
                    <a:ext uri="{9D8B030D-6E8A-4147-A177-3AD203B41FA5}">
                      <a16:colId xmlns:a16="http://schemas.microsoft.com/office/drawing/2014/main" val="20001"/>
                    </a:ext>
                  </a:extLst>
                </a:gridCol>
              </a:tblGrid>
              <a:tr h="378420">
                <a:tc>
                  <a:txBody>
                    <a:bodyPr/>
                    <a:lstStyle/>
                    <a:p>
                      <a:pPr marL="0" indent="0">
                        <a:lnSpc>
                          <a:spcPts val="1680"/>
                        </a:lnSpc>
                        <a:buNone/>
                      </a:pPr>
                      <a:r>
                        <a:rPr lang="en-US" sz="1200" b="1" dirty="0">
                          <a:solidFill>
                            <a:srgbClr val="12201E"/>
                          </a:solidFill>
                          <a:latin typeface="Plus Jakarta Sans" pitchFamily="34" charset="0"/>
                          <a:ea typeface="Plus Jakarta Sans" pitchFamily="34" charset="-122"/>
                          <a:cs typeface="Plus Jakarta Sans" pitchFamily="34" charset="-120"/>
                        </a:rPr>
                        <a:t>Tier</a:t>
                      </a:r>
                      <a:endParaRPr lang="en-US" sz="1200" dirty="0">
                        <a:latin typeface="Plus Jakarta Sans" charset="0"/>
                        <a:ea typeface="Plus Jakarta Sans" charset="0"/>
                        <a:cs typeface="Plus Jakarta Sans" charset="0"/>
                      </a:endParaRPr>
                    </a:p>
                  </a:txBody>
                  <a:tcPr marL="101600" marR="101600" marT="76200" marB="762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12201E"/>
                          </a:solidFill>
                          <a:latin typeface="Plus Jakarta Sans" pitchFamily="34" charset="0"/>
                          <a:ea typeface="Plus Jakarta Sans" pitchFamily="34" charset="-122"/>
                          <a:cs typeface="Plus Jakarta Sans" pitchFamily="34" charset="-120"/>
                        </a:rPr>
                        <a:t>Price</a:t>
                      </a:r>
                      <a:endParaRPr lang="en-US" sz="1200" dirty="0">
                        <a:latin typeface="Plus Jakarta Sans" charset="0"/>
                        <a:ea typeface="Plus Jakarta Sans" charset="0"/>
                        <a:cs typeface="Plus Jakarta Sans" charset="0"/>
                      </a:endParaRPr>
                    </a:p>
                  </a:txBody>
                  <a:tcPr marL="101600" marR="101600" marT="76200" marB="762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378420">
                <a:tc>
                  <a:txBody>
                    <a:bodyPr/>
                    <a:lstStyle/>
                    <a:p>
                      <a:pPr marL="0" indent="0">
                        <a:lnSpc>
                          <a:spcPts val="1680"/>
                        </a:lnSpc>
                        <a:buNone/>
                      </a:pPr>
                      <a:r>
                        <a:rPr lang="en-US" sz="1200" dirty="0">
                          <a:solidFill>
                            <a:srgbClr val="12201E"/>
                          </a:solidFill>
                          <a:latin typeface="Plus Jakarta Sans" pitchFamily="34" charset="0"/>
                          <a:ea typeface="Plus Jakarta Sans" pitchFamily="34" charset="-122"/>
                          <a:cs typeface="Plus Jakarta Sans" pitchFamily="34" charset="-120"/>
                        </a:rPr>
                        <a:t>Pilot: 1 SKU, 1 district, 6 mo</a:t>
                      </a:r>
                      <a:endParaRPr lang="en-US" sz="1200" dirty="0">
                        <a:latin typeface="Plus Jakarta Sans" charset="0"/>
                        <a:ea typeface="Plus Jakarta Sans" charset="0"/>
                        <a:cs typeface="Plus Jakarta Sans" charset="0"/>
                      </a:endParaRPr>
                    </a:p>
                  </a:txBody>
                  <a:tcPr marL="101600" marR="101600" marT="76200" marB="762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2201E"/>
                          </a:solidFill>
                          <a:latin typeface="Plus Jakarta Sans" pitchFamily="34" charset="0"/>
                          <a:ea typeface="Plus Jakarta Sans" pitchFamily="34" charset="-122"/>
                          <a:cs typeface="Plus Jakarta Sans" pitchFamily="34" charset="-120"/>
                        </a:rPr>
                        <a:t>Free (grant-funded)</a:t>
                      </a:r>
                      <a:endParaRPr lang="en-US" sz="1200" dirty="0">
                        <a:latin typeface="Plus Jakarta Sans" charset="0"/>
                        <a:ea typeface="Plus Jakarta Sans" charset="0"/>
                        <a:cs typeface="Plus Jakarta Sans" charset="0"/>
                      </a:endParaRPr>
                    </a:p>
                  </a:txBody>
                  <a:tcPr marL="101600" marR="101600" marT="76200" marB="762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78420">
                <a:tc>
                  <a:txBody>
                    <a:bodyPr/>
                    <a:lstStyle/>
                    <a:p>
                      <a:pPr marL="0" indent="0">
                        <a:lnSpc>
                          <a:spcPts val="1680"/>
                        </a:lnSpc>
                        <a:buNone/>
                      </a:pPr>
                      <a:r>
                        <a:rPr lang="en-US" sz="1200" dirty="0">
                          <a:solidFill>
                            <a:srgbClr val="12201E"/>
                          </a:solidFill>
                          <a:latin typeface="Plus Jakarta Sans" pitchFamily="34" charset="0"/>
                          <a:ea typeface="Plus Jakarta Sans" pitchFamily="34" charset="-122"/>
                          <a:cs typeface="Plus Jakarta Sans" pitchFamily="34" charset="-120"/>
                        </a:rPr>
                        <a:t>Standard, per pack</a:t>
                      </a:r>
                      <a:endParaRPr lang="en-US" sz="1200" dirty="0">
                        <a:latin typeface="Plus Jakarta Sans" charset="0"/>
                        <a:ea typeface="Plus Jakarta Sans" charset="0"/>
                        <a:cs typeface="Plus Jakarta Sans" charset="0"/>
                      </a:endParaRPr>
                    </a:p>
                  </a:txBody>
                  <a:tcPr marL="101600" marR="101600" marT="76200" marB="762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2201E"/>
                          </a:solidFill>
                          <a:latin typeface="Plus Jakarta Sans" pitchFamily="34" charset="0"/>
                          <a:ea typeface="Plus Jakarta Sans" pitchFamily="34" charset="-122"/>
                          <a:cs typeface="Plus Jakarta Sans" pitchFamily="34" charset="-120"/>
                        </a:rPr>
                        <a:t>€0.007</a:t>
                      </a:r>
                      <a:endParaRPr lang="en-US" sz="1200" dirty="0">
                        <a:latin typeface="Plus Jakarta Sans" charset="0"/>
                        <a:ea typeface="Plus Jakarta Sans" charset="0"/>
                        <a:cs typeface="Plus Jakarta Sans" charset="0"/>
                      </a:endParaRPr>
                    </a:p>
                  </a:txBody>
                  <a:tcPr marL="101600" marR="101600" marT="76200" marB="762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78420">
                <a:tc>
                  <a:txBody>
                    <a:bodyPr/>
                    <a:lstStyle/>
                    <a:p>
                      <a:pPr marL="0" indent="0">
                        <a:lnSpc>
                          <a:spcPts val="1680"/>
                        </a:lnSpc>
                        <a:buNone/>
                      </a:pPr>
                      <a:r>
                        <a:rPr lang="en-US" sz="1200" dirty="0">
                          <a:solidFill>
                            <a:srgbClr val="12201E"/>
                          </a:solidFill>
                          <a:latin typeface="Plus Jakarta Sans" pitchFamily="34" charset="0"/>
                          <a:ea typeface="Plus Jakarta Sans" pitchFamily="34" charset="-122"/>
                          <a:cs typeface="Plus Jakarta Sans" pitchFamily="34" charset="-120"/>
                        </a:rPr>
                        <a:t>Volume, 50 M+ packs/yr</a:t>
                      </a:r>
                      <a:endParaRPr lang="en-US" sz="1200" dirty="0">
                        <a:latin typeface="Plus Jakarta Sans" charset="0"/>
                        <a:ea typeface="Plus Jakarta Sans" charset="0"/>
                        <a:cs typeface="Plus Jakarta Sans" charset="0"/>
                      </a:endParaRPr>
                    </a:p>
                  </a:txBody>
                  <a:tcPr marL="101600" marR="101600" marT="76200" marB="762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2201E"/>
                          </a:solidFill>
                          <a:latin typeface="Plus Jakarta Sans" pitchFamily="34" charset="0"/>
                          <a:ea typeface="Plus Jakarta Sans" pitchFamily="34" charset="-122"/>
                          <a:cs typeface="Plus Jakarta Sans" pitchFamily="34" charset="-120"/>
                        </a:rPr>
                        <a:t>€0.004 per pack</a:t>
                      </a:r>
                      <a:endParaRPr lang="en-US" sz="1200" dirty="0">
                        <a:latin typeface="Plus Jakarta Sans" charset="0"/>
                        <a:ea typeface="Plus Jakarta Sans" charset="0"/>
                        <a:cs typeface="Plus Jakarta Sans" charset="0"/>
                      </a:endParaRPr>
                    </a:p>
                  </a:txBody>
                  <a:tcPr marL="101600" marR="101600" marT="76200" marB="762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78420">
                <a:tc>
                  <a:txBody>
                    <a:bodyPr/>
                    <a:lstStyle/>
                    <a:p>
                      <a:pPr marL="0" indent="0">
                        <a:lnSpc>
                          <a:spcPts val="1680"/>
                        </a:lnSpc>
                        <a:buNone/>
                      </a:pPr>
                      <a:r>
                        <a:rPr lang="en-US" sz="1200" dirty="0">
                          <a:solidFill>
                            <a:srgbClr val="12201E"/>
                          </a:solidFill>
                          <a:latin typeface="Plus Jakarta Sans" pitchFamily="34" charset="0"/>
                          <a:ea typeface="Plus Jakarta Sans" pitchFamily="34" charset="-122"/>
                          <a:cs typeface="Plus Jakarta Sans" pitchFamily="34" charset="-120"/>
                        </a:rPr>
                        <a:t>Analytics SaaS</a:t>
                      </a:r>
                      <a:endParaRPr lang="en-US" sz="1200" dirty="0">
                        <a:latin typeface="Plus Jakarta Sans" charset="0"/>
                        <a:ea typeface="Plus Jakarta Sans" charset="0"/>
                        <a:cs typeface="Plus Jakarta Sans" charset="0"/>
                      </a:endParaRPr>
                    </a:p>
                  </a:txBody>
                  <a:tcPr marL="101600" marR="101600" marT="76200" marB="762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2201E"/>
                          </a:solidFill>
                          <a:latin typeface="Plus Jakarta Sans" pitchFamily="34" charset="0"/>
                          <a:ea typeface="Plus Jakarta Sans" pitchFamily="34" charset="-122"/>
                          <a:cs typeface="Plus Jakarta Sans" pitchFamily="34" charset="-120"/>
                        </a:rPr>
                        <a:t>€10k/yr per manufacturer</a:t>
                      </a:r>
                      <a:endParaRPr lang="en-US" sz="1200" dirty="0">
                        <a:latin typeface="Plus Jakarta Sans" charset="0"/>
                        <a:ea typeface="Plus Jakarta Sans" charset="0"/>
                        <a:cs typeface="Plus Jakarta Sans" charset="0"/>
                      </a:endParaRPr>
                    </a:p>
                  </a:txBody>
                  <a:tcPr marL="101600" marR="101600" marT="76200" marB="762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591741">
                <a:tc>
                  <a:txBody>
                    <a:bodyPr/>
                    <a:lstStyle/>
                    <a:p>
                      <a:pPr marL="0" indent="0">
                        <a:lnSpc>
                          <a:spcPts val="1680"/>
                        </a:lnSpc>
                        <a:buNone/>
                      </a:pPr>
                      <a:r>
                        <a:rPr lang="en-US" sz="1200" dirty="0">
                          <a:solidFill>
                            <a:srgbClr val="12201E"/>
                          </a:solidFill>
                          <a:latin typeface="Plus Jakarta Sans" pitchFamily="34" charset="0"/>
                          <a:ea typeface="Plus Jakarta Sans" pitchFamily="34" charset="-122"/>
                          <a:cs typeface="Plus Jakarta Sans" pitchFamily="34" charset="-120"/>
                        </a:rPr>
                        <a:t>Regulator / donor programme</a:t>
                      </a:r>
                      <a:endParaRPr lang="en-US" sz="1200" dirty="0">
                        <a:latin typeface="Plus Jakarta Sans" charset="0"/>
                        <a:ea typeface="Plus Jakarta Sans" charset="0"/>
                        <a:cs typeface="Plus Jakarta Sans" charset="0"/>
                      </a:endParaRPr>
                    </a:p>
                  </a:txBody>
                  <a:tcPr marL="101600" marR="101600" marT="76200" marB="762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2201E"/>
                          </a:solidFill>
                          <a:latin typeface="Plus Jakarta Sans" pitchFamily="34" charset="0"/>
                          <a:ea typeface="Plus Jakarta Sans" pitchFamily="34" charset="-122"/>
                          <a:cs typeface="Plus Jakarta Sans" pitchFamily="34" charset="-120"/>
                        </a:rPr>
                        <a:t>€130–260k each</a:t>
                      </a:r>
                      <a:endParaRPr lang="en-US" sz="1200" dirty="0">
                        <a:latin typeface="Plus Jakarta Sans" charset="0"/>
                        <a:ea typeface="Plus Jakarta Sans" charset="0"/>
                        <a:cs typeface="Plus Jakarta Sans" charset="0"/>
                      </a:endParaRPr>
                    </a:p>
                  </a:txBody>
                  <a:tcPr marL="101600" marR="101600" marT="76200" marB="762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4"/>
          <p:cNvSpPr/>
          <p:nvPr/>
        </p:nvSpPr>
        <p:spPr>
          <a:xfrm>
            <a:off x="6197600" y="1685479"/>
            <a:ext cx="5181600" cy="3311872"/>
          </a:xfrm>
          <a:prstGeom prst="roundRect">
            <a:avLst>
              <a:gd name="adj" fmla="val 4602"/>
            </a:avLst>
          </a:prstGeom>
          <a:solidFill>
            <a:srgbClr val="E3EFEC"/>
          </a:solidFill>
          <a:ln/>
        </p:spPr>
        <p:txBody>
          <a:bodyPr/>
          <a:lstStyle/>
          <a:p>
            <a:endParaRPr lang="en-US"/>
          </a:p>
        </p:txBody>
      </p:sp>
      <p:sp>
        <p:nvSpPr>
          <p:cNvPr id="8" name="Text 5"/>
          <p:cNvSpPr/>
          <p:nvPr/>
        </p:nvSpPr>
        <p:spPr>
          <a:xfrm>
            <a:off x="6426200" y="1914079"/>
            <a:ext cx="486613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1E"/>
                </a:solidFill>
                <a:latin typeface="Plus Jakarta Sans" pitchFamily="34" charset="0"/>
                <a:ea typeface="Plus Jakarta Sans" pitchFamily="34" charset="-122"/>
                <a:cs typeface="Plus Jakarta Sans" pitchFamily="34" charset="-120"/>
              </a:rPr>
              <a:t>Why manufacturers pay first</a:t>
            </a:r>
            <a:endParaRPr lang="en-US" sz="1600" dirty="0"/>
          </a:p>
        </p:txBody>
      </p:sp>
      <p:sp>
        <p:nvSpPr>
          <p:cNvPr id="9" name="Text 6"/>
          <p:cNvSpPr/>
          <p:nvPr/>
        </p:nvSpPr>
        <p:spPr>
          <a:xfrm>
            <a:off x="6426200" y="2284909"/>
            <a:ext cx="4866132" cy="982861"/>
          </a:xfrm>
          <a:prstGeom prst="rect">
            <a:avLst/>
          </a:prstGeom>
          <a:noFill/>
          <a:ln/>
        </p:spPr>
        <p:txBody>
          <a:bodyPr wrap="square" lIns="0" tIns="0" rIns="0" bIns="0" rtlCol="0" anchor="t">
            <a:normAutofit/>
          </a:bodyPr>
          <a:lstStyle/>
          <a:p>
            <a:pPr marL="198120" indent="-168656" algn="l">
              <a:lnSpc>
                <a:spcPts val="1885"/>
              </a:lnSpc>
              <a:buSzPct val="100000"/>
              <a:buChar char="•"/>
            </a:pPr>
            <a:r>
              <a:rPr lang="en-US" sz="1300" dirty="0">
                <a:solidFill>
                  <a:srgbClr val="12201E"/>
                </a:solidFill>
                <a:latin typeface="Plus Jakarta Sans" pitchFamily="34" charset="0"/>
                <a:ea typeface="Plus Jakarta Sans" pitchFamily="34" charset="-122"/>
                <a:cs typeface="Plus Jakarta Sans" pitchFamily="34" charset="-120"/>
              </a:rPr>
              <a:t>~€172 M of counterfeit medicine in circulation at any time (Daily Star)</a:t>
            </a:r>
            <a:endParaRPr lang="en-US" sz="1300" dirty="0"/>
          </a:p>
          <a:p>
            <a:pPr marL="198120" indent="-168656" algn="l">
              <a:lnSpc>
                <a:spcPts val="1885"/>
              </a:lnSpc>
              <a:buSzPct val="100000"/>
              <a:buChar char="•"/>
            </a:pPr>
            <a:r>
              <a:rPr lang="en-US" sz="1300" dirty="0">
                <a:solidFill>
                  <a:srgbClr val="12201E"/>
                </a:solidFill>
                <a:latin typeface="Plus Jakarta Sans" pitchFamily="34" charset="0"/>
                <a:ea typeface="Plus Jakarta Sans" pitchFamily="34" charset="-122"/>
                <a:cs typeface="Plus Jakarta Sans" pitchFamily="34" charset="-120"/>
              </a:rPr>
              <a:t>Export markets increasingly expect serialization</a:t>
            </a:r>
            <a:endParaRPr lang="en-US" sz="1300" dirty="0"/>
          </a:p>
          <a:p>
            <a:pPr marL="198120" indent="-168656" algn="l">
              <a:lnSpc>
                <a:spcPts val="1885"/>
              </a:lnSpc>
              <a:buSzPct val="100000"/>
              <a:buChar char="•"/>
            </a:pPr>
            <a:r>
              <a:rPr lang="en-US" sz="1300" dirty="0">
                <a:solidFill>
                  <a:srgbClr val="12201E"/>
                </a:solidFill>
                <a:latin typeface="Plus Jakarta Sans" pitchFamily="34" charset="0"/>
                <a:ea typeface="Plus Jakarta Sans" pitchFamily="34" charset="-122"/>
                <a:cs typeface="Plus Jakarta Sans" pitchFamily="34" charset="-120"/>
              </a:rPr>
              <a:t>Hotspot data shows where their brands are copied</a:t>
            </a:r>
            <a:endParaRPr lang="en-US" sz="1300" dirty="0"/>
          </a:p>
        </p:txBody>
      </p:sp>
      <p:sp>
        <p:nvSpPr>
          <p:cNvPr id="10" name="Text 7"/>
          <p:cNvSpPr/>
          <p:nvPr/>
        </p:nvSpPr>
        <p:spPr>
          <a:xfrm>
            <a:off x="812800" y="6238280"/>
            <a:ext cx="380595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Prices are targets, to validate in the pilot · €1 = Tk 145</a:t>
            </a:r>
            <a:endParaRPr lang="en-US" sz="1200" dirty="0"/>
          </a:p>
        </p:txBody>
      </p:sp>
      <p:sp>
        <p:nvSpPr>
          <p:cNvPr id="11" name="Text 8"/>
          <p:cNvSpPr/>
          <p:nvPr/>
        </p:nvSpPr>
        <p:spPr>
          <a:xfrm>
            <a:off x="11188849" y="6238280"/>
            <a:ext cx="2411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A6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5D57"/>
                </a:solidFill>
                <a:latin typeface="Plus Jakarta Sans" pitchFamily="34" charset="0"/>
                <a:ea typeface="Plus Jakarta Sans" pitchFamily="34" charset="-122"/>
                <a:cs typeface="Plus Jakarta Sans" pitchFamily="34" charset="-120"/>
              </a:rPr>
              <a:t>A7 · BACKUP</a:t>
            </a:r>
            <a:endParaRPr lang="en-US" sz="1200" dirty="0"/>
          </a:p>
        </p:txBody>
      </p:sp>
      <p:sp>
        <p:nvSpPr>
          <p:cNvPr id="3" name="Text 1"/>
          <p:cNvSpPr/>
          <p:nvPr/>
        </p:nvSpPr>
        <p:spPr>
          <a:xfrm>
            <a:off x="812800" y="1026120"/>
            <a:ext cx="10883392" cy="430758"/>
          </a:xfrm>
          <a:prstGeom prst="rect">
            <a:avLst/>
          </a:prstGeom>
          <a:noFill/>
          <a:ln/>
        </p:spPr>
        <p:txBody>
          <a:bodyPr wrap="square" lIns="0" tIns="0" rIns="0" bIns="0" rtlCol="0" anchor="t">
            <a:normAutofit/>
          </a:bodyPr>
          <a:lstStyle/>
          <a:p>
            <a:pPr marL="0" indent="0" algn="l">
              <a:lnSpc>
                <a:spcPts val="3192"/>
              </a:lnSpc>
              <a:buNone/>
            </a:pPr>
            <a:r>
              <a:rPr lang="en-US" sz="2800" b="1" kern="0" spc="-50" dirty="0">
                <a:solidFill>
                  <a:srgbClr val="12201E"/>
                </a:solidFill>
                <a:latin typeface="Plus Jakarta Sans" pitchFamily="34" charset="0"/>
                <a:ea typeface="Plus Jakarta Sans" pitchFamily="34" charset="-122"/>
                <a:cs typeface="Plus Jakarta Sans" pitchFamily="34" charset="-120"/>
              </a:rPr>
              <a:t>Sources</a:t>
            </a:r>
            <a:endParaRPr lang="en-US" sz="2800" dirty="0"/>
          </a:p>
        </p:txBody>
      </p:sp>
      <p:sp>
        <p:nvSpPr>
          <p:cNvPr id="4" name="Text 2"/>
          <p:cNvSpPr/>
          <p:nvPr/>
        </p:nvSpPr>
        <p:spPr>
          <a:xfrm>
            <a:off x="812800" y="1660079"/>
            <a:ext cx="10883392" cy="1874441"/>
          </a:xfrm>
          <a:prstGeom prst="rect">
            <a:avLst/>
          </a:prstGeom>
          <a:noFill/>
          <a:ln/>
        </p:spPr>
        <p:txBody>
          <a:bodyPr wrap="square" lIns="0" tIns="0" rIns="0" bIns="0" rtlCol="0" anchor="t">
            <a:normAutofit/>
          </a:bodyPr>
          <a:lstStyle/>
          <a:p>
            <a:pPr marL="198120" indent="-198120" algn="l">
              <a:lnSpc>
                <a:spcPts val="1820"/>
              </a:lnSpc>
              <a:buSzPct val="100000"/>
              <a:buFontTx/>
              <a:buAutoNum type="arabicPeriod"/>
            </a:pPr>
            <a:r>
              <a:rPr lang="en-US" sz="1300" b="1" dirty="0">
                <a:solidFill>
                  <a:srgbClr val="12201E"/>
                </a:solidFill>
                <a:latin typeface="Plus Jakarta Sans" pitchFamily="34" charset="0"/>
                <a:ea typeface="Plus Jakarta Sans" pitchFamily="34" charset="-122"/>
                <a:cs typeface="Plus Jakarta Sans" pitchFamily="34" charset="-120"/>
              </a:rPr>
              <a:t>WHO</a:t>
            </a:r>
            <a:r>
              <a:rPr lang="en-US" sz="1300" dirty="0">
                <a:solidFill>
                  <a:srgbClr val="12201E"/>
                </a:solidFill>
                <a:latin typeface="Plus Jakarta Sans" pitchFamily="34" charset="0"/>
                <a:ea typeface="Plus Jakarta Sans" pitchFamily="34" charset="-122"/>
                <a:cs typeface="Plus Jakarta Sans" pitchFamily="34" charset="-120"/>
              </a:rPr>
              <a:t> (2017). Study on the public health and socioeconomic impact of substandard and falsified medical products: 1 in 10 in LMICs</a:t>
            </a:r>
            <a:endParaRPr lang="en-US" sz="1300" dirty="0"/>
          </a:p>
          <a:p>
            <a:pPr marL="198120" indent="-198120" algn="l">
              <a:lnSpc>
                <a:spcPts val="1820"/>
              </a:lnSpc>
              <a:buSzPct val="100000"/>
              <a:buFontTx/>
              <a:buAutoNum type="arabicPeriod"/>
            </a:pPr>
            <a:r>
              <a:rPr lang="en-US" sz="1300" b="1" dirty="0">
                <a:solidFill>
                  <a:srgbClr val="12201E"/>
                </a:solidFill>
                <a:latin typeface="Plus Jakarta Sans" pitchFamily="34" charset="0"/>
                <a:ea typeface="Plus Jakarta Sans" pitchFamily="34" charset="-122"/>
                <a:cs typeface="Plus Jakarta Sans" pitchFamily="34" charset="-120"/>
              </a:rPr>
              <a:t>The Daily Star</a:t>
            </a:r>
            <a:r>
              <a:rPr lang="en-US" sz="1300" dirty="0">
                <a:solidFill>
                  <a:srgbClr val="12201E"/>
                </a:solidFill>
                <a:latin typeface="Plus Jakarta Sans" pitchFamily="34" charset="0"/>
                <a:ea typeface="Plus Jakarta Sans" pitchFamily="34" charset="-122"/>
                <a:cs typeface="Plus Jakarta Sans" pitchFamily="34" charset="-120"/>
              </a:rPr>
              <a:t> (27 Feb 2022). “Countering counterfeit medicine in Bangladesh”: ~Tk 25,000 M (≈ €172 M) in circulation</a:t>
            </a:r>
            <a:endParaRPr lang="en-US" sz="1300" dirty="0"/>
          </a:p>
          <a:p>
            <a:pPr marL="198120" indent="-198120" algn="l">
              <a:lnSpc>
                <a:spcPts val="1820"/>
              </a:lnSpc>
              <a:buSzPct val="100000"/>
              <a:buFontTx/>
              <a:buAutoNum type="arabicPeriod"/>
            </a:pPr>
            <a:r>
              <a:rPr lang="en-US" sz="1300" b="1" dirty="0">
                <a:solidFill>
                  <a:srgbClr val="12201E"/>
                </a:solidFill>
                <a:latin typeface="Plus Jakarta Sans" pitchFamily="34" charset="0"/>
                <a:ea typeface="Plus Jakarta Sans" pitchFamily="34" charset="-122"/>
                <a:cs typeface="Plus Jakarta Sans" pitchFamily="34" charset="-120"/>
              </a:rPr>
              <a:t>Dhaka Tribune</a:t>
            </a:r>
            <a:r>
              <a:rPr lang="en-US" sz="1300" dirty="0">
                <a:solidFill>
                  <a:srgbClr val="12201E"/>
                </a:solidFill>
                <a:latin typeface="Plus Jakarta Sans" pitchFamily="34" charset="0"/>
                <a:ea typeface="Plus Jakarta Sans" pitchFamily="34" charset="-122"/>
                <a:cs typeface="Plus Jakarta Sans" pitchFamily="34" charset="-120"/>
              </a:rPr>
              <a:t> (30 Apr 2024). “Devil in disguise: Health concerns mount over rising tide of fake medicines”</a:t>
            </a:r>
            <a:endParaRPr lang="en-US" sz="1300" dirty="0"/>
          </a:p>
          <a:p>
            <a:pPr marL="198120" indent="-198120" algn="l">
              <a:lnSpc>
                <a:spcPts val="1820"/>
              </a:lnSpc>
              <a:buSzPct val="100000"/>
              <a:buFontTx/>
              <a:buAutoNum type="arabicPeriod"/>
            </a:pPr>
            <a:r>
              <a:rPr lang="en-US" sz="1300" b="1" dirty="0">
                <a:solidFill>
                  <a:srgbClr val="12201E"/>
                </a:solidFill>
                <a:latin typeface="Plus Jakarta Sans" pitchFamily="34" charset="0"/>
                <a:ea typeface="Plus Jakarta Sans" pitchFamily="34" charset="-122"/>
                <a:cs typeface="Plus Jakarta Sans" pitchFamily="34" charset="-120"/>
              </a:rPr>
              <a:t>Bangladesh Pratidin</a:t>
            </a:r>
            <a:r>
              <a:rPr lang="en-US" sz="1300" dirty="0">
                <a:solidFill>
                  <a:srgbClr val="12201E"/>
                </a:solidFill>
                <a:latin typeface="Plus Jakarta Sans" pitchFamily="34" charset="0"/>
                <a:ea typeface="Plus Jakarta Sans" pitchFamily="34" charset="-122"/>
                <a:cs typeface="Plus Jakarta Sans" pitchFamily="34" charset="-120"/>
              </a:rPr>
              <a:t> (20 Dec 2025). “Market flooded with counterfeit medicines”</a:t>
            </a:r>
            <a:endParaRPr lang="en-US" sz="1300" dirty="0"/>
          </a:p>
          <a:p>
            <a:pPr marL="198120" indent="-198120" algn="l">
              <a:lnSpc>
                <a:spcPts val="1820"/>
              </a:lnSpc>
              <a:buSzPct val="100000"/>
              <a:buFontTx/>
              <a:buAutoNum type="arabicPeriod"/>
            </a:pPr>
            <a:r>
              <a:rPr lang="en-US" sz="1300" b="1" dirty="0">
                <a:solidFill>
                  <a:srgbClr val="12201E"/>
                </a:solidFill>
                <a:latin typeface="Plus Jakarta Sans" pitchFamily="34" charset="0"/>
                <a:ea typeface="Plus Jakarta Sans" pitchFamily="34" charset="-122"/>
                <a:cs typeface="Plus Jakarta Sans" pitchFamily="34" charset="-120"/>
              </a:rPr>
              <a:t>New Age</a:t>
            </a:r>
            <a:r>
              <a:rPr lang="en-US" sz="1300" dirty="0">
                <a:solidFill>
                  <a:srgbClr val="12201E"/>
                </a:solidFill>
                <a:latin typeface="Plus Jakarta Sans" pitchFamily="34" charset="0"/>
                <a:ea typeface="Plus Jakarta Sans" pitchFamily="34" charset="-122"/>
                <a:cs typeface="Plus Jakarta Sans" pitchFamily="34" charset="-120"/>
              </a:rPr>
              <a:t>. “Counterfeit medicines flood markets across Bangladesh”</a:t>
            </a:r>
            <a:endParaRPr lang="en-US" sz="1300" dirty="0"/>
          </a:p>
          <a:p>
            <a:pPr marL="198120" indent="-198120" algn="l">
              <a:lnSpc>
                <a:spcPts val="1820"/>
              </a:lnSpc>
              <a:buSzPct val="100000"/>
              <a:buFontTx/>
              <a:buAutoNum type="arabicPeriod"/>
            </a:pPr>
            <a:r>
              <a:rPr lang="en-US" sz="1300" b="1" dirty="0">
                <a:solidFill>
                  <a:srgbClr val="12201E"/>
                </a:solidFill>
                <a:latin typeface="Plus Jakarta Sans" pitchFamily="34" charset="0"/>
                <a:ea typeface="Plus Jakarta Sans" pitchFamily="34" charset="-122"/>
                <a:cs typeface="Plus Jakarta Sans" pitchFamily="34" charset="-120"/>
              </a:rPr>
              <a:t>ICT Division, Bangladesh</a:t>
            </a:r>
            <a:r>
              <a:rPr lang="en-US" sz="1300" dirty="0">
                <a:solidFill>
                  <a:srgbClr val="12201E"/>
                </a:solidFill>
                <a:latin typeface="Plus Jakarta Sans" pitchFamily="34" charset="0"/>
                <a:ea typeface="Plus Jakarta Sans" pitchFamily="34" charset="-122"/>
                <a:cs typeface="Plus Jakarta Sans" pitchFamily="34" charset="-120"/>
              </a:rPr>
              <a:t>. National Blockchain Strategy: Bangladesh</a:t>
            </a:r>
            <a:endParaRPr lang="en-US" sz="1300" dirty="0"/>
          </a:p>
          <a:p>
            <a:pPr marL="198120" indent="-198120" algn="l">
              <a:lnSpc>
                <a:spcPts val="1820"/>
              </a:lnSpc>
              <a:buSzPct val="100000"/>
              <a:buFontTx/>
              <a:buAutoNum type="arabicPeriod"/>
            </a:pPr>
            <a:r>
              <a:rPr lang="en-US" sz="1300" b="1" dirty="0">
                <a:solidFill>
                  <a:srgbClr val="12201E"/>
                </a:solidFill>
                <a:latin typeface="Plus Jakarta Sans" pitchFamily="34" charset="0"/>
                <a:ea typeface="Plus Jakarta Sans" pitchFamily="34" charset="-122"/>
                <a:cs typeface="Plus Jakarta Sans" pitchFamily="34" charset="-120"/>
              </a:rPr>
              <a:t>HPRA</a:t>
            </a:r>
            <a:r>
              <a:rPr lang="en-US" sz="1300" dirty="0">
                <a:solidFill>
                  <a:srgbClr val="12201E"/>
                </a:solidFill>
                <a:latin typeface="Plus Jakarta Sans" pitchFamily="34" charset="0"/>
                <a:ea typeface="Plus Jakarta Sans" pitchFamily="34" charset="-122"/>
                <a:cs typeface="Plus Jakarta Sans" pitchFamily="34" charset="-120"/>
              </a:rPr>
              <a:t> (24 Mar 2026). “Over 750,000 units of illegal medicines detained by the HPRA in 2025”</a:t>
            </a:r>
            <a:endParaRPr lang="en-US" sz="1300" dirty="0"/>
          </a:p>
          <a:p>
            <a:pPr marL="198120" indent="-198120" algn="l">
              <a:lnSpc>
                <a:spcPts val="1820"/>
              </a:lnSpc>
              <a:buSzPct val="100000"/>
              <a:buFontTx/>
              <a:buAutoNum type="arabicPeriod"/>
            </a:pPr>
            <a:r>
              <a:rPr lang="en-US" sz="1300" b="1" dirty="0">
                <a:solidFill>
                  <a:srgbClr val="12201E"/>
                </a:solidFill>
                <a:latin typeface="Plus Jakarta Sans" pitchFamily="34" charset="0"/>
                <a:ea typeface="Plus Jakarta Sans" pitchFamily="34" charset="-122"/>
                <a:cs typeface="Plus Jakarta Sans" pitchFamily="34" charset="-120"/>
              </a:rPr>
              <a:t>GS1</a:t>
            </a:r>
            <a:r>
              <a:rPr lang="en-US" sz="1300" dirty="0">
                <a:solidFill>
                  <a:srgbClr val="12201E"/>
                </a:solidFill>
                <a:latin typeface="Plus Jakarta Sans" pitchFamily="34" charset="0"/>
                <a:ea typeface="Plus Jakarta Sans" pitchFamily="34" charset="-122"/>
                <a:cs typeface="Plus Jakarta Sans" pitchFamily="34" charset="-120"/>
              </a:rPr>
              <a:t>. General Specifications: GTIN + serial number, SSCC aggregation</a:t>
            </a:r>
            <a:endParaRPr lang="en-US" sz="1300" dirty="0"/>
          </a:p>
        </p:txBody>
      </p:sp>
      <p:sp>
        <p:nvSpPr>
          <p:cNvPr id="5" name="Text 3"/>
          <p:cNvSpPr/>
          <p:nvPr/>
        </p:nvSpPr>
        <p:spPr>
          <a:xfrm>
            <a:off x="812800" y="6238280"/>
            <a:ext cx="51029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Market data: SOL ≈ $120 ≈ €103 (25 Sep 2026) · $1 = Tk 125 · €1 = Tk 145</a:t>
            </a:r>
            <a:endParaRPr lang="en-US" sz="1200" dirty="0"/>
          </a:p>
        </p:txBody>
      </p:sp>
      <p:sp>
        <p:nvSpPr>
          <p:cNvPr id="6" name="Text 4"/>
          <p:cNvSpPr/>
          <p:nvPr/>
        </p:nvSpPr>
        <p:spPr>
          <a:xfrm>
            <a:off x="11197034" y="6238280"/>
            <a:ext cx="23296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A7</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5D57"/>
                </a:solidFill>
                <a:latin typeface="Plus Jakarta Sans" pitchFamily="34" charset="0"/>
                <a:ea typeface="Plus Jakarta Sans" pitchFamily="34" charset="-122"/>
                <a:cs typeface="Plus Jakarta Sans" pitchFamily="34" charset="-120"/>
              </a:rPr>
              <a:t>A8 · BACKUP</a:t>
            </a:r>
            <a:endParaRPr lang="en-US" sz="1200" dirty="0"/>
          </a:p>
        </p:txBody>
      </p:sp>
      <p:sp>
        <p:nvSpPr>
          <p:cNvPr id="3" name="Text 1"/>
          <p:cNvSpPr/>
          <p:nvPr/>
        </p:nvSpPr>
        <p:spPr>
          <a:xfrm>
            <a:off x="812800" y="1026120"/>
            <a:ext cx="10883392" cy="430758"/>
          </a:xfrm>
          <a:prstGeom prst="rect">
            <a:avLst/>
          </a:prstGeom>
          <a:noFill/>
          <a:ln/>
        </p:spPr>
        <p:txBody>
          <a:bodyPr wrap="square" lIns="0" tIns="0" rIns="0" bIns="0" rtlCol="0" anchor="t">
            <a:normAutofit/>
          </a:bodyPr>
          <a:lstStyle/>
          <a:p>
            <a:pPr marL="0" indent="0" algn="l">
              <a:lnSpc>
                <a:spcPts val="3192"/>
              </a:lnSpc>
              <a:buNone/>
            </a:pPr>
            <a:r>
              <a:rPr lang="en-US" sz="2800" b="1" kern="0" spc="-50" dirty="0">
                <a:solidFill>
                  <a:srgbClr val="12201E"/>
                </a:solidFill>
                <a:latin typeface="Plus Jakarta Sans" pitchFamily="34" charset="0"/>
                <a:ea typeface="Plus Jakarta Sans" pitchFamily="34" charset="-122"/>
                <a:cs typeface="Plus Jakarta Sans" pitchFamily="34" charset="-120"/>
              </a:rPr>
              <a:t>“Isn't this what Europe does?” Yes, deliberately.</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98179"/>
          <a:ext cx="10553700" cy="3055540"/>
        </p:xfrm>
        <a:graphic>
          <a:graphicData uri="http://schemas.openxmlformats.org/drawingml/2006/table">
            <a:tbl>
              <a:tblPr/>
              <a:tblGrid>
                <a:gridCol w="3517900">
                  <a:extLst>
                    <a:ext uri="{9D8B030D-6E8A-4147-A177-3AD203B41FA5}">
                      <a16:colId xmlns:a16="http://schemas.microsoft.com/office/drawing/2014/main" val="20000"/>
                    </a:ext>
                  </a:extLst>
                </a:gridCol>
                <a:gridCol w="3517900">
                  <a:extLst>
                    <a:ext uri="{9D8B030D-6E8A-4147-A177-3AD203B41FA5}">
                      <a16:colId xmlns:a16="http://schemas.microsoft.com/office/drawing/2014/main" val="20001"/>
                    </a:ext>
                  </a:extLst>
                </a:gridCol>
                <a:gridCol w="3517900">
                  <a:extLst>
                    <a:ext uri="{9D8B030D-6E8A-4147-A177-3AD203B41FA5}">
                      <a16:colId xmlns:a16="http://schemas.microsoft.com/office/drawing/2014/main" val="20002"/>
                    </a:ext>
                  </a:extLst>
                </a:gridCol>
              </a:tblGrid>
              <a:tr h="472430">
                <a:tc>
                  <a:txBody>
                    <a:bodyPr/>
                    <a:lstStyle/>
                    <a:p>
                      <a:pPr marL="0" indent="0">
                        <a:lnSpc>
                          <a:spcPts val="1820"/>
                        </a:lnSpc>
                        <a:buNone/>
                      </a:pP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B5B7B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B5B7B6"/>
                      </a:solidFill>
                      <a:prstDash val="solid"/>
                      <a:round/>
                      <a:headEnd type="none" w="med" len="med"/>
                      <a:tailEnd type="none" w="med" len="med"/>
                    </a:lnB>
                    <a:solidFill>
                      <a:srgbClr val="E3E5E4"/>
                    </a:solidFill>
                  </a:tcPr>
                </a:tc>
                <a:tc>
                  <a:txBody>
                    <a:bodyPr/>
                    <a:lstStyle/>
                    <a:p>
                      <a:pPr marL="0" indent="0">
                        <a:lnSpc>
                          <a:spcPts val="1820"/>
                        </a:lnSpc>
                        <a:buNone/>
                      </a:pPr>
                      <a:r>
                        <a:rPr lang="en-US" sz="1300" b="1" dirty="0">
                          <a:solidFill>
                            <a:srgbClr val="FFFFFF"/>
                          </a:solidFill>
                          <a:latin typeface="Plus Jakarta Sans" pitchFamily="34" charset="0"/>
                          <a:ea typeface="Plus Jakarta Sans" pitchFamily="34" charset="-122"/>
                          <a:cs typeface="Plus Jakarta Sans" pitchFamily="34" charset="-120"/>
                        </a:rPr>
                        <a:t>Europe (Falsified Medicines Directive)</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B5B7B6"/>
                      </a:solidFill>
                      <a:prstDash val="solid"/>
                      <a:round/>
                      <a:headEnd type="none" w="med" len="med"/>
                      <a:tailEnd type="none" w="med" len="med"/>
                    </a:lnL>
                    <a:lnR w="12700" cap="flat" cmpd="sng" algn="ctr">
                      <a:solidFill>
                        <a:srgbClr val="B5B7B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B5B7B6"/>
                      </a:solidFill>
                      <a:prstDash val="solid"/>
                      <a:round/>
                      <a:headEnd type="none" w="med" len="med"/>
                      <a:tailEnd type="none" w="med" len="med"/>
                    </a:lnB>
                    <a:solidFill>
                      <a:srgbClr val="E3E5E4"/>
                    </a:solidFill>
                  </a:tcPr>
                </a:tc>
                <a:tc>
                  <a:txBody>
                    <a:bodyPr/>
                    <a:lstStyle/>
                    <a:p>
                      <a:pPr marL="0" indent="0">
                        <a:lnSpc>
                          <a:spcPts val="1820"/>
                        </a:lnSpc>
                        <a:buNone/>
                      </a:pPr>
                      <a:r>
                        <a:rPr lang="en-US" sz="1300" b="1" dirty="0">
                          <a:solidFill>
                            <a:srgbClr val="FFFFFF"/>
                          </a:solidFill>
                          <a:latin typeface="Plus Jakarta Sans" pitchFamily="34" charset="0"/>
                          <a:ea typeface="Plus Jakarta Sans" pitchFamily="34" charset="-122"/>
                          <a:cs typeface="Plus Jakarta Sans" pitchFamily="34" charset="-120"/>
                        </a:rPr>
                        <a:t>MedTrace</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B5B7B6"/>
                      </a:solidFill>
                      <a:prstDash val="solid"/>
                      <a:round/>
                      <a:headEnd type="none" w="med" len="med"/>
                      <a:tailEnd type="none" w="med" len="med"/>
                    </a:lnL>
                    <a:lnR w="12700" cap="flat" cmpd="sng" algn="ctr">
                      <a:solidFill>
                        <a:srgbClr val="B5B7B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B5B7B6"/>
                      </a:solidFill>
                      <a:prstDash val="solid"/>
                      <a:round/>
                      <a:headEnd type="none" w="med" len="med"/>
                      <a:tailEnd type="none" w="med" len="med"/>
                    </a:lnB>
                    <a:solidFill>
                      <a:srgbClr val="E3E5E4"/>
                    </a:solidFill>
                  </a:tcPr>
                </a:tc>
                <a:extLst>
                  <a:ext uri="{0D108BD9-81ED-4DB2-BD59-A6C34878D82A}">
                    <a16:rowId xmlns:a16="http://schemas.microsoft.com/office/drawing/2014/main" val="10000"/>
                  </a:ext>
                </a:extLst>
              </a:tr>
              <a:tr h="703560">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Core logic</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B5B7B6"/>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Unique ID per pack, cancelled at dispense</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B5B7B6"/>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Same</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B5B7B6"/>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1"/>
                  </a:ext>
                </a:extLst>
              </a:tr>
              <a:tr h="703560">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What made it work</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An EU law</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Manufacturer demand first, regulator next</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2"/>
                  </a:ext>
                </a:extLst>
              </a:tr>
              <a:tr h="703560">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Who runs the record</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Central hub + national systems (IMVO in Ireland)</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A Solana program — no hub operator</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3"/>
                  </a:ext>
                </a:extLst>
              </a:tr>
              <a:tr h="472430">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Needs</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An institution everyone trusts</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tc>
                  <a:txBody>
                    <a:bodyPr/>
                    <a:lstStyle/>
                    <a:p>
                      <a:pPr marL="0" indent="0">
                        <a:lnSpc>
                          <a:spcPts val="1820"/>
                        </a:lnSpc>
                        <a:buNone/>
                      </a:pPr>
                      <a:r>
                        <a:rPr lang="en-US" sz="1300" dirty="0">
                          <a:solidFill>
                            <a:srgbClr val="12201E"/>
                          </a:solidFill>
                          <a:latin typeface="Plus Jakarta Sans" pitchFamily="34" charset="0"/>
                          <a:ea typeface="Plus Jakarta Sans" pitchFamily="34" charset="-122"/>
                          <a:cs typeface="Plus Jakarta Sans" pitchFamily="34" charset="-120"/>
                        </a:rPr>
                        <a:t>No trusted institution required</a:t>
                      </a:r>
                      <a:endParaRPr lang="en-US" sz="1300" dirty="0">
                        <a:latin typeface="Plus Jakarta Sans" charset="0"/>
                        <a:ea typeface="Plus Jakarta Sans" charset="0"/>
                        <a:cs typeface="Plus Jakarta Sans" charset="0"/>
                      </a:endParaRPr>
                    </a:p>
                  </a:txBody>
                  <a:tcPr marL="152400" marR="152400" marT="114300" marB="114300">
                    <a:lnL w="12700" cap="flat" cmpd="sng" algn="ctr">
                      <a:solidFill>
                        <a:srgbClr val="C4C5C4"/>
                      </a:solidFill>
                      <a:prstDash val="solid"/>
                      <a:round/>
                      <a:headEnd type="none" w="med" len="med"/>
                      <a:tailEnd type="none" w="med" len="med"/>
                    </a:lnL>
                    <a:lnR w="12700" cap="flat" cmpd="sng" algn="ctr">
                      <a:solidFill>
                        <a:srgbClr val="C4C5C4"/>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C4C5C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5007719"/>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201E"/>
                </a:solidFill>
                <a:latin typeface="Plus Jakarta Sans" pitchFamily="34" charset="0"/>
                <a:ea typeface="Plus Jakarta Sans" pitchFamily="34" charset="-122"/>
                <a:cs typeface="Plus Jakarta Sans" pitchFamily="34" charset="-120"/>
              </a:rPr>
              <a:t>Ireland isn't immune:</a:t>
            </a:r>
            <a:r>
              <a:rPr lang="en-US" sz="1500" dirty="0">
                <a:solidFill>
                  <a:srgbClr val="12201E"/>
                </a:solidFill>
                <a:latin typeface="Plus Jakarta Sans" pitchFamily="34" charset="0"/>
                <a:ea typeface="Plus Jakarta Sans" pitchFamily="34" charset="-122"/>
                <a:cs typeface="Plus Jakarta Sans" pitchFamily="34" charset="-120"/>
              </a:rPr>
              <a:t> the HPRA detained </a:t>
            </a:r>
            <a:r>
              <a:rPr lang="en-US" sz="1500" b="1" dirty="0">
                <a:solidFill>
                  <a:srgbClr val="12201E"/>
                </a:solidFill>
                <a:latin typeface="Plus Jakarta Sans" pitchFamily="34" charset="0"/>
                <a:ea typeface="Plus Jakarta Sans" pitchFamily="34" charset="-122"/>
                <a:cs typeface="Plus Jakarta Sans" pitchFamily="34" charset="-120"/>
              </a:rPr>
              <a:t>763,027 units</a:t>
            </a:r>
            <a:r>
              <a:rPr lang="en-US" sz="1500" dirty="0">
                <a:solidFill>
                  <a:srgbClr val="12201E"/>
                </a:solidFill>
                <a:latin typeface="Plus Jakarta Sans" pitchFamily="34" charset="0"/>
                <a:ea typeface="Plus Jakarta Sans" pitchFamily="34" charset="-122"/>
                <a:cs typeface="Plus Jakarta Sans" pitchFamily="34" charset="-120"/>
              </a:rPr>
              <a:t> of illegal medicines in 2025. Sedatives made up 27%.</a:t>
            </a:r>
            <a:endParaRPr lang="en-US" sz="1500" dirty="0"/>
          </a:p>
        </p:txBody>
      </p:sp>
      <p:sp>
        <p:nvSpPr>
          <p:cNvPr id="6" name="Text 3"/>
          <p:cNvSpPr/>
          <p:nvPr/>
        </p:nvSpPr>
        <p:spPr>
          <a:xfrm>
            <a:off x="11184086" y="6238280"/>
            <a:ext cx="24591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A8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5D57"/>
                </a:solidFill>
                <a:latin typeface="Plus Jakarta Sans" pitchFamily="34" charset="0"/>
                <a:ea typeface="Plus Jakarta Sans" pitchFamily="34" charset="-122"/>
                <a:cs typeface="Plus Jakarta Sans" pitchFamily="34" charset="-120"/>
              </a:rPr>
              <a:t>A9 · BACKUP</a:t>
            </a:r>
            <a:endParaRPr lang="en-US" sz="1200" dirty="0"/>
          </a:p>
        </p:txBody>
      </p:sp>
      <p:sp>
        <p:nvSpPr>
          <p:cNvPr id="3" name="Text 1"/>
          <p:cNvSpPr/>
          <p:nvPr/>
        </p:nvSpPr>
        <p:spPr>
          <a:xfrm>
            <a:off x="812800" y="1026120"/>
            <a:ext cx="10883392" cy="430758"/>
          </a:xfrm>
          <a:prstGeom prst="rect">
            <a:avLst/>
          </a:prstGeom>
          <a:noFill/>
          <a:ln/>
        </p:spPr>
        <p:txBody>
          <a:bodyPr wrap="square" lIns="0" tIns="0" rIns="0" bIns="0" rtlCol="0" anchor="t">
            <a:normAutofit/>
          </a:bodyPr>
          <a:lstStyle/>
          <a:p>
            <a:pPr marL="0" indent="0" algn="l">
              <a:lnSpc>
                <a:spcPts val="3192"/>
              </a:lnSpc>
              <a:buNone/>
            </a:pPr>
            <a:r>
              <a:rPr lang="en-US" sz="2800" b="1" kern="0" spc="-50" dirty="0">
                <a:solidFill>
                  <a:srgbClr val="12201E"/>
                </a:solidFill>
                <a:latin typeface="Plus Jakarta Sans" pitchFamily="34" charset="0"/>
                <a:ea typeface="Plus Jakarta Sans" pitchFamily="34" charset="-122"/>
                <a:cs typeface="Plus Jakarta Sans" pitchFamily="34" charset="-120"/>
              </a:rPr>
              <a:t>Who talks to what: keys never touch the server</a:t>
            </a:r>
            <a:endParaRPr lang="en-US" sz="2800" dirty="0"/>
          </a:p>
        </p:txBody>
      </p:sp>
      <p:pic>
        <p:nvPicPr>
          <p:cNvPr id="4" name="Image 0" descr="Architecture. Role screens ask the Phantom wallet to sign; Phantom sends signed transactions straight to the Solana RPC node. Role screens read from /api/packs; the patient phone opens the /verify page from the QR code. Both use serverReader(), which calls getAccountInfo and getProgramAccounts on the RPC node. The RPC node executes the MedTrace program (mint, transfer, dispense), which reads and writes Pack accounts at PDA pack, serial."/>
          <p:cNvPicPr>
            <a:picLocks noChangeAspect="1"/>
          </p:cNvPicPr>
          <p:nvPr/>
        </p:nvPicPr>
        <p:blipFill>
          <a:blip r:embed="rId3"/>
          <a:srcRect t="-31" b="-31"/>
          <a:stretch/>
        </p:blipFill>
        <p:spPr>
          <a:xfrm>
            <a:off x="812800" y="1685479"/>
            <a:ext cx="10566400" cy="3810000"/>
          </a:xfrm>
          <a:prstGeom prst="rect">
            <a:avLst/>
          </a:prstGeom>
        </p:spPr>
      </p:pic>
      <p:sp>
        <p:nvSpPr>
          <p:cNvPr id="5" name="Text 2"/>
          <p:cNvSpPr/>
          <p:nvPr/>
        </p:nvSpPr>
        <p:spPr>
          <a:xfrm>
            <a:off x="812800" y="6238280"/>
            <a:ext cx="72927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Mock mode: serverReader() swaps to an in-memory store with the same rules; nothing else changes</a:t>
            </a:r>
            <a:endParaRPr lang="en-US" sz="1200" dirty="0"/>
          </a:p>
        </p:txBody>
      </p:sp>
      <p:sp>
        <p:nvSpPr>
          <p:cNvPr id="6" name="Text 3"/>
          <p:cNvSpPr/>
          <p:nvPr/>
        </p:nvSpPr>
        <p:spPr>
          <a:xfrm>
            <a:off x="11188849" y="6238280"/>
            <a:ext cx="2411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45F"/>
                </a:solidFill>
                <a:latin typeface="Plus Jakarta Sans" pitchFamily="34" charset="0"/>
                <a:ea typeface="Plus Jakarta Sans" pitchFamily="34" charset="-122"/>
                <a:cs typeface="Plus Jakarta Sans" pitchFamily="34" charset="-120"/>
              </a:rPr>
              <a:t>A9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3456</Words>
  <Application>Microsoft Macintosh PowerPoint</Application>
  <PresentationFormat>Widescreen</PresentationFormat>
  <Paragraphs>365</Paragraphs>
  <Slides>20</Slides>
  <Notes>20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IBM Plex Mono</vt:lpstr>
      <vt:lpstr>Plus Jakarta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MedTrace — Build IRL Vol. 1</dc:title>
  <dc:subject>PptxGenJS Presentation</dc:subject>
  <dc:creator>PptxGenJS</dc:creator>
  <cp:lastModifiedBy>Sadman Araf</cp:lastModifiedBy>
  <cp:revision>2</cp:revision>
  <dcterms:created xsi:type="dcterms:W3CDTF">2026-09-26T14:23:36Z</dcterms:created>
  <dcterms:modified xsi:type="dcterms:W3CDTF">2026-09-26T14:50:47Z</dcterms:modified>
</cp:coreProperties>
</file>